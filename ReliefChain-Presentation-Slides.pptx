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Encode Sans Semi Condensed SemiBold"/>
      <p:regular r:id="rId15"/>
    </p:embeddedFont>
    <p:embeddedFont>
      <p:font typeface="Fira Sans" panose="020B0503050000020004" pitchFamily="34" charset="0"/>
      <p:regular r:id="rId16"/>
    </p:embeddedFont>
    <p:embeddedFont>
      <p:font typeface="Fira Sans Bold" panose="020B0604020202020204" charset="0"/>
      <p:regular r:id="rId17"/>
    </p:embeddedFont>
    <p:embeddedFont>
      <p:font typeface="Fira Sans SemiBold" panose="020B0603050000020004" pitchFamily="34" charset="0"/>
      <p:regular r:id="rId18"/>
    </p:embeddedFont>
    <p:embeddedFont>
      <p:font typeface="Overpass Mono" panose="020B0604020202020204" charset="0"/>
      <p:regular r:id="rId19"/>
    </p:embeddedFont>
    <p:embeddedFont>
      <p:font typeface="Overpass Mono Bold" panose="020B0604020202020204" charset="0"/>
      <p:regular r:id="rId20"/>
    </p:embeddedFont>
    <p:embeddedFont>
      <p:font typeface="Overpass Mono Medium"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1230"/>
    <a:srgbClr val="081639"/>
    <a:srgbClr val="051336"/>
    <a:srgbClr val="05B787"/>
    <a:srgbClr val="1C1D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8383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presenting ReliefChain, a platform built during the Crypto World’s Fair Pakistan Track to make humanitarian giving completely transparent and verifiable.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donate to humanitarian causes, they often wonder where the money actually went. The disconnect is not malice, it is simply a lack of visible, independent transaction evidence.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ReliefChain solves this by combining standard campaign fundraising with Phantom wallet signing, Devnet SPL tokens, backend validation, and a public transparency dashboard with Solana Explorer links.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life of a donation. The donor connects Phantom and signs. The transaction submits to Devnet, our backend verifies the exact recipient and amount, and only validated events reach the dashboard.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non-crypto judges: Phantom acts like a secure digital passport where the user controls access. Solana acts as a public bulletin board that records proofs instantly. We run on Devnet with test tokens.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plates are placeholders because screenshots could not be captured automatically. Replace each with real product evidence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we pair React 18 with Solana Web3.js and Supabase Edge Functions. Storing verified records in Postgres ensures fast dashboard queries without hammering the RPC node for every page visit.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Integrity is crucial. We do not trust frontend success events. Our backend performs a five-point check on the Solana signature and blocks replay attacks before writing a single row to our database.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ReliefChain could serve individual donors, community-led campaigns, humanitarian relief organizers, nonprofits, and donors seeking verifiable transaction records. Accessible evidence could improve transparency and donor confidence.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possibilities, not features today. The mission stays central as we explore management tools, reporting, partnerships, Mainnet after review, more wallets, and real-world channels.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5123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5123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51230"/>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5123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relief-chain-two.vercel.app"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780" y="2159000"/>
            <a:ext cx="3649968"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938487" y="2221805"/>
            <a:ext cx="4008139"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SUPERTEAM PAKISTAN · EDVERSITY</a:t>
            </a:r>
            <a:endParaRPr lang="en-US" sz="1300" dirty="0"/>
          </a:p>
        </p:txBody>
      </p:sp>
      <p:sp>
        <p:nvSpPr>
          <p:cNvPr id="4" name="Text 2"/>
          <p:cNvSpPr/>
          <p:nvPr/>
        </p:nvSpPr>
        <p:spPr>
          <a:xfrm>
            <a:off x="812780" y="2710998"/>
            <a:ext cx="6349841" cy="699492"/>
          </a:xfrm>
          <a:prstGeom prst="rect">
            <a:avLst/>
          </a:prstGeom>
          <a:noFill/>
          <a:ln/>
        </p:spPr>
        <p:txBody>
          <a:bodyPr wrap="none" lIns="0" tIns="0" rIns="0" bIns="0" rtlCol="0" anchor="t"/>
          <a:lstStyle/>
          <a:p>
            <a:pPr marL="0" indent="0" algn="l">
              <a:lnSpc>
                <a:spcPct val="85000"/>
              </a:lnSpc>
              <a:buNone/>
            </a:pPr>
            <a:r>
              <a:rPr lang="en-US" sz="5400" kern="100" spc="-54" dirty="0">
                <a:solidFill>
                  <a:srgbClr val="FFFFFF"/>
                </a:solidFill>
                <a:latin typeface="Encode Sans Semi Condensed SemiBold" pitchFamily="34" charset="0"/>
                <a:ea typeface="Encode Sans Semi Condensed SemiBold" pitchFamily="34" charset="-122"/>
                <a:cs typeface="Encode Sans Semi Condensed SemiBold" pitchFamily="34" charset="-120"/>
              </a:rPr>
              <a:t>ReliefChain</a:t>
            </a:r>
            <a:endParaRPr lang="en-US" sz="5400" dirty="0"/>
          </a:p>
        </p:txBody>
      </p:sp>
      <p:sp>
        <p:nvSpPr>
          <p:cNvPr id="5" name="Text 3"/>
          <p:cNvSpPr/>
          <p:nvPr/>
        </p:nvSpPr>
        <p:spPr>
          <a:xfrm>
            <a:off x="812780" y="3528219"/>
            <a:ext cx="6349841" cy="330200"/>
          </a:xfrm>
          <a:prstGeom prst="rect">
            <a:avLst/>
          </a:prstGeom>
          <a:noFill/>
          <a:ln/>
        </p:spPr>
        <p:txBody>
          <a:bodyPr wrap="none" lIns="0" tIns="0" rIns="0" bIns="0" rtlCol="0" anchor="t"/>
          <a:lstStyle/>
          <a:p>
            <a:pPr marL="0" indent="0" algn="l">
              <a:lnSpc>
                <a:spcPct val="108000"/>
              </a:lnSpc>
              <a:buNone/>
            </a:pPr>
            <a:r>
              <a:rPr lang="en-US" sz="2000" dirty="0">
                <a:solidFill>
                  <a:srgbClr val="FFFFFF"/>
                </a:solidFill>
                <a:latin typeface="Fira Sans" pitchFamily="34" charset="0"/>
                <a:ea typeface="Fira Sans" pitchFamily="34" charset="-122"/>
                <a:cs typeface="Fira Sans" pitchFamily="34" charset="-120"/>
              </a:rPr>
              <a:t>Transparent Giving. Verifiable Impact.</a:t>
            </a:r>
            <a:endParaRPr lang="en-US" sz="2000" dirty="0"/>
          </a:p>
        </p:txBody>
      </p:sp>
      <p:sp>
        <p:nvSpPr>
          <p:cNvPr id="6" name="Text 4"/>
          <p:cNvSpPr/>
          <p:nvPr/>
        </p:nvSpPr>
        <p:spPr>
          <a:xfrm>
            <a:off x="812780" y="4004469"/>
            <a:ext cx="6349841" cy="685205"/>
          </a:xfrm>
          <a:prstGeom prst="rect">
            <a:avLst/>
          </a:prstGeom>
          <a:noFill/>
          <a:ln/>
        </p:spPr>
        <p:txBody>
          <a:bodyPr wrap="square" lIns="0" tIns="0" rIns="0" bIns="0" rtlCol="0" anchor="t">
            <a:normAutofit/>
          </a:bodyPr>
          <a:lstStyle/>
          <a:p>
            <a:pPr marL="0" indent="0" algn="l">
              <a:lnSpc>
                <a:spcPct val="118000"/>
              </a:lnSpc>
              <a:buNone/>
            </a:pPr>
            <a:r>
              <a:rPr lang="en-US" sz="1900" dirty="0">
                <a:solidFill>
                  <a:srgbClr val="FFFFFF"/>
                </a:solidFill>
                <a:latin typeface="Fira Sans" pitchFamily="34" charset="0"/>
                <a:ea typeface="Fira Sans" pitchFamily="34" charset="-122"/>
                <a:cs typeface="Fira Sans" pitchFamily="34" charset="-120"/>
              </a:rPr>
              <a:t>A blockchain-powered platform for transparent humanitarian donations.</a:t>
            </a:r>
            <a:endParaRPr lang="en-US" sz="1900" dirty="0"/>
          </a:p>
        </p:txBody>
      </p:sp>
      <p:sp>
        <p:nvSpPr>
          <p:cNvPr id="7" name="Text 5"/>
          <p:cNvSpPr/>
          <p:nvPr/>
        </p:nvSpPr>
        <p:spPr>
          <a:xfrm>
            <a:off x="812780" y="4867473"/>
            <a:ext cx="6959426" cy="190500"/>
          </a:xfrm>
          <a:prstGeom prst="rect">
            <a:avLst/>
          </a:prstGeom>
          <a:noFill/>
          <a:ln/>
        </p:spPr>
        <p:txBody>
          <a:bodyPr wrap="none" lIns="0" tIns="0" rIns="0" bIns="0" rtlCol="0" anchor="t"/>
          <a:lstStyle/>
          <a:p>
            <a:pPr marL="0" indent="0" algn="l">
              <a:lnSpc>
                <a:spcPct val="104000"/>
              </a:lnSpc>
              <a:buNone/>
            </a:pPr>
            <a:r>
              <a:rPr lang="en-US" sz="1200" kern="100" spc="36" dirty="0">
                <a:solidFill>
                  <a:srgbClr val="AFB3BD"/>
                </a:solidFill>
                <a:latin typeface="Overpass Mono Medium" pitchFamily="34" charset="0"/>
                <a:ea typeface="Overpass Mono Medium" pitchFamily="34" charset="-122"/>
                <a:cs typeface="Overpass Mono Medium" pitchFamily="34" charset="-120"/>
              </a:rPr>
              <a:t>CRYPTO WORLD’S FAIR PAKISTAN TRACK · HACKATHON PROTOTYPE</a:t>
            </a:r>
            <a:endParaRPr lang="en-US" sz="1200" dirty="0"/>
          </a:p>
        </p:txBody>
      </p:sp>
      <p:sp>
        <p:nvSpPr>
          <p:cNvPr id="10" name="Rectangle 9">
            <a:extLst>
              <a:ext uri="{FF2B5EF4-FFF2-40B4-BE49-F238E27FC236}">
                <a16:creationId xmlns:a16="http://schemas.microsoft.com/office/drawing/2014/main" id="{104A1AAA-766E-49F0-F43A-FEF23E232C7A}"/>
              </a:ext>
            </a:extLst>
          </p:cNvPr>
          <p:cNvSpPr/>
          <p:nvPr/>
        </p:nvSpPr>
        <p:spPr>
          <a:xfrm>
            <a:off x="11085095" y="6569242"/>
            <a:ext cx="1106905" cy="288758"/>
          </a:xfrm>
          <a:prstGeom prst="rect">
            <a:avLst/>
          </a:prstGeom>
          <a:solidFill>
            <a:srgbClr val="1C1D49"/>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AA18451-09CE-73B3-A16D-866821DCDA46}"/>
              </a:ext>
            </a:extLst>
          </p:cNvPr>
          <p:cNvSpPr/>
          <p:nvPr/>
        </p:nvSpPr>
        <p:spPr>
          <a:xfrm>
            <a:off x="10988842" y="6432884"/>
            <a:ext cx="232611" cy="425116"/>
          </a:xfrm>
          <a:prstGeom prst="rect">
            <a:avLst/>
          </a:prstGeom>
          <a:solidFill>
            <a:srgbClr val="05B7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0383" y="558800"/>
            <a:ext cx="1497570" cy="326827"/>
          </a:xfrm>
          <a:prstGeom prst="roundRect">
            <a:avLst>
              <a:gd name="adj" fmla="val 49999"/>
            </a:avLst>
          </a:prstGeom>
          <a:solidFill>
            <a:srgbClr val="EB5324"/>
          </a:solidFill>
          <a:ln/>
        </p:spPr>
        <p:txBody>
          <a:bodyPr/>
          <a:lstStyle/>
          <a:p>
            <a:endParaRPr lang="en-US"/>
          </a:p>
        </p:txBody>
      </p:sp>
      <p:sp>
        <p:nvSpPr>
          <p:cNvPr id="3" name="Text 1"/>
          <p:cNvSpPr/>
          <p:nvPr/>
        </p:nvSpPr>
        <p:spPr>
          <a:xfrm>
            <a:off x="786090" y="621605"/>
            <a:ext cx="1855741"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THE PROBLEM</a:t>
            </a:r>
            <a:endParaRPr lang="en-US" sz="1300" dirty="0"/>
          </a:p>
        </p:txBody>
      </p:sp>
      <p:sp>
        <p:nvSpPr>
          <p:cNvPr id="4" name="Text 2"/>
          <p:cNvSpPr/>
          <p:nvPr/>
        </p:nvSpPr>
        <p:spPr>
          <a:xfrm>
            <a:off x="660383" y="1070891"/>
            <a:ext cx="10921727" cy="569913"/>
          </a:xfrm>
          <a:prstGeom prst="rect">
            <a:avLst/>
          </a:prstGeom>
          <a:noFill/>
          <a:ln/>
        </p:spPr>
        <p:txBody>
          <a:bodyPr wrap="none" lIns="0" tIns="0" rIns="0" bIns="0" rtlCol="0" anchor="t"/>
          <a:lstStyle/>
          <a:p>
            <a:pPr marL="0" indent="0" algn="l">
              <a:lnSpc>
                <a:spcPct val="85000"/>
              </a:lnSpc>
              <a:buNone/>
            </a:pPr>
            <a:r>
              <a:rPr lang="en-US" sz="4400" kern="100" spc="-44" dirty="0">
                <a:solidFill>
                  <a:srgbClr val="FFFFFF"/>
                </a:solidFill>
                <a:latin typeface="Encode Sans Semi Condensed SemiBold" pitchFamily="34" charset="0"/>
                <a:ea typeface="Encode Sans Semi Condensed SemiBold" pitchFamily="34" charset="-122"/>
                <a:cs typeface="Encode Sans Semi Condensed SemiBold" pitchFamily="34" charset="-120"/>
              </a:rPr>
              <a:t>Donors struggle to verify where giving goes</a:t>
            </a:r>
            <a:endParaRPr lang="en-US" sz="4400" dirty="0"/>
          </a:p>
        </p:txBody>
      </p:sp>
      <p:sp>
        <p:nvSpPr>
          <p:cNvPr id="5" name="Text 3"/>
          <p:cNvSpPr/>
          <p:nvPr/>
        </p:nvSpPr>
        <p:spPr>
          <a:xfrm>
            <a:off x="660383" y="2039739"/>
            <a:ext cx="4883425" cy="1027807"/>
          </a:xfrm>
          <a:prstGeom prst="rect">
            <a:avLst/>
          </a:prstGeom>
          <a:noFill/>
          <a:ln/>
        </p:spPr>
        <p:txBody>
          <a:bodyPr wrap="square" lIns="0" tIns="0" rIns="0" bIns="0" rtlCol="0" anchor="t">
            <a:normAutofit/>
          </a:bodyPr>
          <a:lstStyle/>
          <a:p>
            <a:pPr marL="0" indent="0" algn="l">
              <a:lnSpc>
                <a:spcPct val="118000"/>
              </a:lnSpc>
              <a:buNone/>
            </a:pPr>
            <a:r>
              <a:rPr lang="en-US" sz="1900" dirty="0">
                <a:solidFill>
                  <a:srgbClr val="C9CFE0"/>
                </a:solidFill>
                <a:latin typeface="Fira Sans" pitchFamily="34" charset="0"/>
                <a:ea typeface="Fira Sans" pitchFamily="34" charset="-122"/>
                <a:cs typeface="Fira Sans" pitchFamily="34" charset="-120"/>
              </a:rPr>
              <a:t>Donation records can be hard to verify independently. Fundraising platforms may not always offer easy transaction evidence.</a:t>
            </a:r>
            <a:endParaRPr lang="en-US" sz="1900" dirty="0"/>
          </a:p>
        </p:txBody>
      </p:sp>
      <p:sp>
        <p:nvSpPr>
          <p:cNvPr id="6" name="Text 4"/>
          <p:cNvSpPr/>
          <p:nvPr/>
        </p:nvSpPr>
        <p:spPr>
          <a:xfrm>
            <a:off x="660383" y="3219946"/>
            <a:ext cx="4883425" cy="522883"/>
          </a:xfrm>
          <a:prstGeom prst="rect">
            <a:avLst/>
          </a:prstGeom>
          <a:noFill/>
          <a:ln/>
        </p:spPr>
        <p:txBody>
          <a:bodyPr wrap="square" lIns="0" tIns="0" rIns="0" bIns="0" rtlCol="0" anchor="t">
            <a:normAutofit/>
          </a:bodyPr>
          <a:lstStyle/>
          <a:p>
            <a:pPr marL="0" indent="0" algn="l">
              <a:lnSpc>
                <a:spcPct val="118000"/>
              </a:lnSpc>
              <a:buNone/>
            </a:pPr>
            <a:r>
              <a:rPr lang="en-US" sz="1450" dirty="0">
                <a:solidFill>
                  <a:srgbClr val="C9CFE0"/>
                </a:solidFill>
                <a:latin typeface="Fira Sans" pitchFamily="34" charset="0"/>
                <a:ea typeface="Fira Sans" pitchFamily="34" charset="-122"/>
                <a:cs typeface="Fira Sans" pitchFamily="34" charset="-120"/>
              </a:rPr>
              <a:t>Donors want visibility into campaign progress and reported impact.</a:t>
            </a:r>
            <a:endParaRPr lang="en-US" sz="1450" dirty="0"/>
          </a:p>
        </p:txBody>
      </p:sp>
      <p:sp>
        <p:nvSpPr>
          <p:cNvPr id="7" name="Shape 5"/>
          <p:cNvSpPr/>
          <p:nvPr/>
        </p:nvSpPr>
        <p:spPr>
          <a:xfrm>
            <a:off x="6000898" y="1811139"/>
            <a:ext cx="5581114" cy="2983012"/>
          </a:xfrm>
          <a:prstGeom prst="rect">
            <a:avLst/>
          </a:prstGeom>
          <a:solidFill>
            <a:srgbClr val="0E1D45"/>
          </a:solidFill>
          <a:ln/>
        </p:spPr>
        <p:txBody>
          <a:bodyPr/>
          <a:lstStyle/>
          <a:p>
            <a:endParaRPr lang="en-US"/>
          </a:p>
        </p:txBody>
      </p:sp>
      <p:sp>
        <p:nvSpPr>
          <p:cNvPr id="8" name="Text 6"/>
          <p:cNvSpPr/>
          <p:nvPr/>
        </p:nvSpPr>
        <p:spPr>
          <a:xfrm>
            <a:off x="6305690" y="2065139"/>
            <a:ext cx="5276321"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C9CFE0"/>
                </a:solidFill>
                <a:latin typeface="Overpass Mono Medium" pitchFamily="34" charset="0"/>
                <a:ea typeface="Overpass Mono Medium" pitchFamily="34" charset="-122"/>
                <a:cs typeface="Overpass Mono Medium" pitchFamily="34" charset="-120"/>
              </a:rPr>
              <a:t>THE VISIBILITY GAP</a:t>
            </a:r>
            <a:endParaRPr lang="en-US" sz="1200" dirty="0"/>
          </a:p>
        </p:txBody>
      </p:sp>
      <p:sp>
        <p:nvSpPr>
          <p:cNvPr id="9" name="Shape 7"/>
          <p:cNvSpPr/>
          <p:nvPr/>
        </p:nvSpPr>
        <p:spPr>
          <a:xfrm>
            <a:off x="7382682" y="2687340"/>
            <a:ext cx="1077191" cy="76200"/>
          </a:xfrm>
          <a:prstGeom prst="rect">
            <a:avLst/>
          </a:prstGeom>
          <a:solidFill>
            <a:srgbClr val="00978D"/>
          </a:solidFill>
          <a:ln/>
        </p:spPr>
        <p:txBody>
          <a:bodyPr/>
          <a:lstStyle/>
          <a:p>
            <a:endParaRPr lang="en-US"/>
          </a:p>
        </p:txBody>
      </p:sp>
      <p:sp>
        <p:nvSpPr>
          <p:cNvPr id="10" name="Shape 8"/>
          <p:cNvSpPr/>
          <p:nvPr/>
        </p:nvSpPr>
        <p:spPr>
          <a:xfrm>
            <a:off x="8383675" y="2636639"/>
            <a:ext cx="152396" cy="177800"/>
          </a:xfrm>
          <a:prstGeom prst="rect">
            <a:avLst/>
          </a:prstGeom>
          <a:solidFill>
            <a:srgbClr val="00978D"/>
          </a:solidFill>
          <a:ln/>
        </p:spPr>
        <p:txBody>
          <a:bodyPr/>
          <a:lstStyle/>
          <a:p>
            <a:endParaRPr lang="en-US"/>
          </a:p>
        </p:txBody>
      </p:sp>
      <p:sp>
        <p:nvSpPr>
          <p:cNvPr id="11" name="Shape 9"/>
          <p:cNvSpPr/>
          <p:nvPr/>
        </p:nvSpPr>
        <p:spPr>
          <a:xfrm>
            <a:off x="7065290" y="2408039"/>
            <a:ext cx="634984" cy="635000"/>
          </a:xfrm>
          <a:prstGeom prst="ellipse">
            <a:avLst/>
          </a:prstGeom>
          <a:solidFill>
            <a:srgbClr val="FFFFFF"/>
          </a:solidFill>
          <a:ln w="38099">
            <a:solidFill>
              <a:srgbClr val="00978D"/>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7173237" y="2515989"/>
            <a:ext cx="419090" cy="419100"/>
          </a:xfrm>
          <a:prstGeom prst="rect">
            <a:avLst/>
          </a:prstGeom>
        </p:spPr>
      </p:pic>
      <p:sp>
        <p:nvSpPr>
          <p:cNvPr id="13" name="Text 10"/>
          <p:cNvSpPr/>
          <p:nvPr/>
        </p:nvSpPr>
        <p:spPr>
          <a:xfrm>
            <a:off x="6820424" y="3163689"/>
            <a:ext cx="1124716" cy="190500"/>
          </a:xfrm>
          <a:prstGeom prst="rect">
            <a:avLst/>
          </a:prstGeom>
          <a:noFill/>
          <a:ln/>
        </p:spPr>
        <p:txBody>
          <a:bodyPr wrap="none" lIns="0" tIns="0" rIns="0" bIns="0" rtlCol="0" anchor="t"/>
          <a:lstStyle/>
          <a:p>
            <a:pPr marL="0" indent="0" algn="ctr">
              <a:lnSpc>
                <a:spcPct val="104000"/>
              </a:lnSpc>
              <a:buNone/>
            </a:pPr>
            <a:r>
              <a:rPr lang="en-US" sz="1200" kern="100" spc="72" dirty="0">
                <a:solidFill>
                  <a:srgbClr val="C9CFE0"/>
                </a:solidFill>
                <a:latin typeface="Overpass Mono Medium" pitchFamily="34" charset="0"/>
                <a:ea typeface="Overpass Mono Medium" pitchFamily="34" charset="-122"/>
                <a:cs typeface="Overpass Mono Medium" pitchFamily="34" charset="-120"/>
              </a:rPr>
              <a:t>DONOR</a:t>
            </a:r>
            <a:endParaRPr lang="en-US" sz="1200" dirty="0"/>
          </a:p>
        </p:txBody>
      </p:sp>
      <p:sp>
        <p:nvSpPr>
          <p:cNvPr id="14" name="Text 11"/>
          <p:cNvSpPr/>
          <p:nvPr/>
        </p:nvSpPr>
        <p:spPr>
          <a:xfrm>
            <a:off x="6363831" y="3474839"/>
            <a:ext cx="2038001" cy="234355"/>
          </a:xfrm>
          <a:prstGeom prst="rect">
            <a:avLst/>
          </a:prstGeom>
          <a:noFill/>
          <a:ln/>
        </p:spPr>
        <p:txBody>
          <a:bodyPr wrap="none" lIns="0" tIns="0" rIns="0" bIns="0" rtlCol="0" anchor="t"/>
          <a:lstStyle/>
          <a:p>
            <a:pPr marL="0" indent="0" algn="ctr">
              <a:lnSpc>
                <a:spcPct val="118000"/>
              </a:lnSpc>
              <a:buNone/>
            </a:pPr>
            <a:r>
              <a:rPr lang="en-US" sz="1300" dirty="0">
                <a:solidFill>
                  <a:srgbClr val="C9CFE0"/>
                </a:solidFill>
                <a:latin typeface="Fira Sans" pitchFamily="34" charset="0"/>
                <a:ea typeface="Fira Sans" pitchFamily="34" charset="-122"/>
                <a:cs typeface="Fira Sans" pitchFamily="34" charset="-120"/>
              </a:rPr>
              <a:t>Sends contribution</a:t>
            </a:r>
            <a:endParaRPr lang="en-US" sz="1300" dirty="0"/>
          </a:p>
        </p:txBody>
      </p:sp>
      <p:sp>
        <p:nvSpPr>
          <p:cNvPr id="15" name="Shape 12"/>
          <p:cNvSpPr/>
          <p:nvPr/>
        </p:nvSpPr>
        <p:spPr>
          <a:xfrm>
            <a:off x="8459973" y="2687340"/>
            <a:ext cx="662864" cy="76200"/>
          </a:xfrm>
          <a:prstGeom prst="rect">
            <a:avLst/>
          </a:prstGeom>
          <a:solidFill>
            <a:srgbClr val="EB5324"/>
          </a:solidFill>
          <a:ln/>
        </p:spPr>
        <p:txBody>
          <a:bodyPr/>
          <a:lstStyle/>
          <a:p>
            <a:endParaRPr lang="en-US"/>
          </a:p>
        </p:txBody>
      </p:sp>
      <p:sp>
        <p:nvSpPr>
          <p:cNvPr id="16" name="Shape 13"/>
          <p:cNvSpPr/>
          <p:nvPr/>
        </p:nvSpPr>
        <p:spPr>
          <a:xfrm>
            <a:off x="9046639" y="2636639"/>
            <a:ext cx="152396" cy="177800"/>
          </a:xfrm>
          <a:prstGeom prst="rect">
            <a:avLst/>
          </a:prstGeom>
          <a:solidFill>
            <a:srgbClr val="00978D"/>
          </a:solidFill>
          <a:ln/>
        </p:spPr>
        <p:txBody>
          <a:bodyPr/>
          <a:lstStyle/>
          <a:p>
            <a:endParaRPr lang="en-US"/>
          </a:p>
        </p:txBody>
      </p:sp>
      <p:sp>
        <p:nvSpPr>
          <p:cNvPr id="17" name="Shape 14"/>
          <p:cNvSpPr/>
          <p:nvPr/>
        </p:nvSpPr>
        <p:spPr>
          <a:xfrm>
            <a:off x="8473863" y="2408039"/>
            <a:ext cx="634984" cy="635000"/>
          </a:xfrm>
          <a:prstGeom prst="ellipse">
            <a:avLst/>
          </a:prstGeom>
          <a:solidFill>
            <a:srgbClr val="FFFFFF"/>
          </a:solidFill>
          <a:ln w="38099">
            <a:solidFill>
              <a:srgbClr val="EB5324"/>
            </a:solidFill>
            <a:prstDash val="solid"/>
          </a:ln>
        </p:spPr>
        <p:txBody>
          <a:bodyPr/>
          <a:lstStyle/>
          <a:p>
            <a:endParaRPr lang="en-US"/>
          </a:p>
        </p:txBody>
      </p:sp>
      <p:sp>
        <p:nvSpPr>
          <p:cNvPr id="18" name="Shape 15"/>
          <p:cNvSpPr/>
          <p:nvPr/>
        </p:nvSpPr>
        <p:spPr>
          <a:xfrm>
            <a:off x="9122837" y="2687340"/>
            <a:ext cx="1077191" cy="76200"/>
          </a:xfrm>
          <a:prstGeom prst="rect">
            <a:avLst/>
          </a:prstGeom>
          <a:solidFill>
            <a:srgbClr val="00978D"/>
          </a:solidFill>
          <a:ln/>
        </p:spPr>
        <p:txBody>
          <a:bodyPr/>
          <a:lstStyle/>
          <a:p>
            <a:endParaRPr lang="en-US"/>
          </a:p>
        </p:txBody>
      </p:sp>
      <p:sp>
        <p:nvSpPr>
          <p:cNvPr id="19" name="Shape 16"/>
          <p:cNvSpPr/>
          <p:nvPr/>
        </p:nvSpPr>
        <p:spPr>
          <a:xfrm>
            <a:off x="9882536" y="2408039"/>
            <a:ext cx="634984" cy="635000"/>
          </a:xfrm>
          <a:prstGeom prst="ellipse">
            <a:avLst/>
          </a:prstGeom>
          <a:solidFill>
            <a:srgbClr val="FFFFFF"/>
          </a:solidFill>
          <a:ln w="38099">
            <a:solidFill>
              <a:srgbClr val="00978D"/>
            </a:solidFill>
            <a:prstDash val="solid"/>
          </a:ln>
        </p:spPr>
        <p:txBody>
          <a:bodyPr/>
          <a:lstStyle/>
          <a:p>
            <a:endParaRPr lang="en-US"/>
          </a:p>
        </p:txBody>
      </p:sp>
      <p:pic>
        <p:nvPicPr>
          <p:cNvPr id="20" name="Image 1" descr="preencoded.png"/>
          <p:cNvPicPr>
            <a:picLocks noChangeAspect="1"/>
          </p:cNvPicPr>
          <p:nvPr/>
        </p:nvPicPr>
        <p:blipFill>
          <a:blip r:embed="rId4"/>
          <a:stretch>
            <a:fillRect/>
          </a:stretch>
        </p:blipFill>
        <p:spPr>
          <a:xfrm>
            <a:off x="9990483" y="2515989"/>
            <a:ext cx="419090" cy="419100"/>
          </a:xfrm>
          <a:prstGeom prst="rect">
            <a:avLst/>
          </a:prstGeom>
        </p:spPr>
      </p:pic>
      <p:sp>
        <p:nvSpPr>
          <p:cNvPr id="21" name="Text 17"/>
          <p:cNvSpPr/>
          <p:nvPr/>
        </p:nvSpPr>
        <p:spPr>
          <a:xfrm>
            <a:off x="9483091" y="3163689"/>
            <a:ext cx="1433774" cy="190500"/>
          </a:xfrm>
          <a:prstGeom prst="rect">
            <a:avLst/>
          </a:prstGeom>
          <a:noFill/>
          <a:ln/>
        </p:spPr>
        <p:txBody>
          <a:bodyPr wrap="none" lIns="0" tIns="0" rIns="0" bIns="0" rtlCol="0" anchor="t"/>
          <a:lstStyle/>
          <a:p>
            <a:pPr marL="0" indent="0" algn="ctr">
              <a:lnSpc>
                <a:spcPct val="104000"/>
              </a:lnSpc>
              <a:buNone/>
            </a:pPr>
            <a:r>
              <a:rPr lang="en-US" sz="1200" kern="100" spc="72" dirty="0">
                <a:solidFill>
                  <a:srgbClr val="C9CFE0"/>
                </a:solidFill>
                <a:latin typeface="Overpass Mono Medium" pitchFamily="34" charset="0"/>
                <a:ea typeface="Overpass Mono Medium" pitchFamily="34" charset="-122"/>
                <a:cs typeface="Overpass Mono Medium" pitchFamily="34" charset="-120"/>
              </a:rPr>
              <a:t>CAMPAIGN</a:t>
            </a:r>
            <a:endParaRPr lang="en-US" sz="1200" dirty="0"/>
          </a:p>
        </p:txBody>
      </p:sp>
      <p:sp>
        <p:nvSpPr>
          <p:cNvPr id="22" name="Text 18"/>
          <p:cNvSpPr/>
          <p:nvPr/>
        </p:nvSpPr>
        <p:spPr>
          <a:xfrm>
            <a:off x="9122837" y="3474839"/>
            <a:ext cx="2154382" cy="234355"/>
          </a:xfrm>
          <a:prstGeom prst="rect">
            <a:avLst/>
          </a:prstGeom>
          <a:noFill/>
          <a:ln/>
        </p:spPr>
        <p:txBody>
          <a:bodyPr wrap="none" lIns="0" tIns="0" rIns="0" bIns="0" rtlCol="0" anchor="t"/>
          <a:lstStyle/>
          <a:p>
            <a:pPr marL="0" indent="0" algn="ctr">
              <a:lnSpc>
                <a:spcPct val="118000"/>
              </a:lnSpc>
              <a:buNone/>
            </a:pPr>
            <a:r>
              <a:rPr lang="en-US" sz="1300" dirty="0">
                <a:solidFill>
                  <a:srgbClr val="C9CFE0"/>
                </a:solidFill>
                <a:latin typeface="Fira Sans" pitchFamily="34" charset="0"/>
                <a:ea typeface="Fira Sans" pitchFamily="34" charset="-122"/>
                <a:cs typeface="Fira Sans" pitchFamily="34" charset="-120"/>
              </a:rPr>
              <a:t>Receives relief funds</a:t>
            </a:r>
            <a:endParaRPr lang="en-US" sz="1300" dirty="0"/>
          </a:p>
        </p:txBody>
      </p:sp>
      <p:sp>
        <p:nvSpPr>
          <p:cNvPr id="23" name="Shape 19"/>
          <p:cNvSpPr/>
          <p:nvPr/>
        </p:nvSpPr>
        <p:spPr>
          <a:xfrm>
            <a:off x="7589449" y="3886994"/>
            <a:ext cx="2403911" cy="326827"/>
          </a:xfrm>
          <a:prstGeom prst="roundRect">
            <a:avLst>
              <a:gd name="adj" fmla="val 49999"/>
            </a:avLst>
          </a:prstGeom>
          <a:solidFill>
            <a:srgbClr val="EB5324"/>
          </a:solidFill>
          <a:ln/>
        </p:spPr>
        <p:txBody>
          <a:bodyPr/>
          <a:lstStyle/>
          <a:p>
            <a:endParaRPr lang="en-US"/>
          </a:p>
        </p:txBody>
      </p:sp>
      <p:sp>
        <p:nvSpPr>
          <p:cNvPr id="24" name="Text 20"/>
          <p:cNvSpPr/>
          <p:nvPr/>
        </p:nvSpPr>
        <p:spPr>
          <a:xfrm>
            <a:off x="7715156" y="3949799"/>
            <a:ext cx="2762082"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NO VISIBLE EVIDENCE</a:t>
            </a:r>
            <a:endParaRPr lang="en-US" sz="1300" dirty="0"/>
          </a:p>
        </p:txBody>
      </p:sp>
      <p:sp>
        <p:nvSpPr>
          <p:cNvPr id="25" name="Text 21"/>
          <p:cNvSpPr/>
          <p:nvPr/>
        </p:nvSpPr>
        <p:spPr>
          <a:xfrm>
            <a:off x="6000898" y="4335423"/>
            <a:ext cx="5581114" cy="205680"/>
          </a:xfrm>
          <a:prstGeom prst="rect">
            <a:avLst/>
          </a:prstGeom>
          <a:noFill/>
          <a:ln/>
        </p:spPr>
        <p:txBody>
          <a:bodyPr wrap="none" lIns="0" tIns="0" rIns="0" bIns="0" rtlCol="0" anchor="t"/>
          <a:lstStyle/>
          <a:p>
            <a:pPr marL="0" indent="0" algn="ctr">
              <a:lnSpc>
                <a:spcPct val="113000"/>
              </a:lnSpc>
              <a:buNone/>
            </a:pPr>
            <a:r>
              <a:rPr lang="en-US" sz="1200" dirty="0">
                <a:solidFill>
                  <a:srgbClr val="C9CFE0"/>
                </a:solidFill>
                <a:latin typeface="Fira Sans" pitchFamily="34" charset="0"/>
                <a:ea typeface="Fira Sans" pitchFamily="34" charset="-122"/>
                <a:cs typeface="Fira Sans" pitchFamily="34" charset="-120"/>
              </a:rPr>
              <a:t>Donation records can be difficult to verify independently.</a:t>
            </a:r>
            <a:endParaRPr lang="en-US" sz="1200" dirty="0"/>
          </a:p>
        </p:txBody>
      </p:sp>
      <p:sp>
        <p:nvSpPr>
          <p:cNvPr id="26" name="Text 22"/>
          <p:cNvSpPr/>
          <p:nvPr/>
        </p:nvSpPr>
        <p:spPr>
          <a:xfrm>
            <a:off x="660383" y="6186487"/>
            <a:ext cx="11531312" cy="214313"/>
          </a:xfrm>
          <a:prstGeom prst="rect">
            <a:avLst/>
          </a:prstGeom>
          <a:noFill/>
          <a:ln/>
        </p:spPr>
        <p:txBody>
          <a:bodyPr wrap="none" lIns="0" tIns="0" rIns="0" bIns="0" rtlCol="0" anchor="t"/>
          <a:lstStyle/>
          <a:p>
            <a:pPr marL="0" indent="0" algn="l">
              <a:lnSpc>
                <a:spcPct val="112000"/>
              </a:lnSpc>
              <a:buNone/>
            </a:pPr>
            <a:r>
              <a:rPr lang="en-US" sz="1250" kern="100" spc="37" dirty="0">
                <a:solidFill>
                  <a:srgbClr val="A9B1CA"/>
                </a:solidFill>
                <a:latin typeface="Overpass Mono" pitchFamily="34" charset="0"/>
                <a:ea typeface="Overpass Mono" pitchFamily="34" charset="-122"/>
                <a:cs typeface="Overpass Mono" pitchFamily="34" charset="-120"/>
              </a:rPr>
              <a:t>Transparency builds trust between donors and organizers.</a:t>
            </a:r>
            <a:endParaRPr lang="en-US" sz="1250" dirty="0"/>
          </a:p>
        </p:txBody>
      </p:sp>
      <p:sp>
        <p:nvSpPr>
          <p:cNvPr id="28" name="Rectangle 27">
            <a:extLst>
              <a:ext uri="{FF2B5EF4-FFF2-40B4-BE49-F238E27FC236}">
                <a16:creationId xmlns:a16="http://schemas.microsoft.com/office/drawing/2014/main" id="{C5994DA6-D366-5401-DE05-E5EEC83495C3}"/>
              </a:ext>
            </a:extLst>
          </p:cNvPr>
          <p:cNvSpPr/>
          <p:nvPr/>
        </p:nvSpPr>
        <p:spPr>
          <a:xfrm>
            <a:off x="11085095" y="6569242"/>
            <a:ext cx="1106905" cy="288758"/>
          </a:xfrm>
          <a:prstGeom prst="rect">
            <a:avLst/>
          </a:prstGeom>
          <a:solidFill>
            <a:srgbClr val="051336"/>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09585" y="609600"/>
            <a:ext cx="2177301"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735292" y="672405"/>
            <a:ext cx="2535472"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CORE CAPABILITIES</a:t>
            </a:r>
            <a:endParaRPr lang="en-US" sz="1300" dirty="0"/>
          </a:p>
        </p:txBody>
      </p:sp>
      <p:sp>
        <p:nvSpPr>
          <p:cNvPr id="4" name="Text 2"/>
          <p:cNvSpPr/>
          <p:nvPr/>
        </p:nvSpPr>
        <p:spPr>
          <a:xfrm>
            <a:off x="609585" y="1096193"/>
            <a:ext cx="3606710" cy="1211461"/>
          </a:xfrm>
          <a:prstGeom prst="rect">
            <a:avLst/>
          </a:prstGeom>
          <a:noFill/>
          <a:ln/>
        </p:spPr>
        <p:txBody>
          <a:bodyPr wrap="square" lIns="0" tIns="0" rIns="0" bIns="0" rtlCol="0" anchor="t">
            <a:normAutofit/>
          </a:bodyPr>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ReliefChain makes every donation checkable</a:t>
            </a:r>
            <a:endParaRPr lang="en-US" sz="3000" dirty="0"/>
          </a:p>
        </p:txBody>
      </p:sp>
      <p:sp>
        <p:nvSpPr>
          <p:cNvPr id="5" name="Text 3"/>
          <p:cNvSpPr/>
          <p:nvPr/>
        </p:nvSpPr>
        <p:spPr>
          <a:xfrm>
            <a:off x="609585" y="2427288"/>
            <a:ext cx="3606710" cy="892671"/>
          </a:xfrm>
          <a:prstGeom prst="rect">
            <a:avLst/>
          </a:prstGeom>
          <a:noFill/>
          <a:ln/>
        </p:spPr>
        <p:txBody>
          <a:bodyPr wrap="square" lIns="0" tIns="0" rIns="0" bIns="0" rtlCol="0" anchor="t">
            <a:normAutofit/>
          </a:bodyPr>
          <a:lstStyle/>
          <a:p>
            <a:pPr marL="0" indent="0" algn="l">
              <a:lnSpc>
                <a:spcPct val="118000"/>
              </a:lnSpc>
              <a:buNone/>
            </a:pPr>
            <a:r>
              <a:rPr lang="en-US" sz="1650" dirty="0">
                <a:solidFill>
                  <a:srgbClr val="C9CFE0"/>
                </a:solidFill>
                <a:latin typeface="Fira Sans" pitchFamily="34" charset="0"/>
                <a:ea typeface="Fira Sans" pitchFamily="34" charset="-122"/>
                <a:cs typeface="Fira Sans" pitchFamily="34" charset="-120"/>
              </a:rPr>
              <a:t>Public accountability built into every step of the donation journey, from wallet tap to live ledger.</a:t>
            </a:r>
            <a:endParaRPr lang="en-US" sz="1650" dirty="0"/>
          </a:p>
        </p:txBody>
      </p:sp>
      <p:sp>
        <p:nvSpPr>
          <p:cNvPr id="6" name="Text 4"/>
          <p:cNvSpPr/>
          <p:nvPr/>
        </p:nvSpPr>
        <p:spPr>
          <a:xfrm>
            <a:off x="609585" y="6139259"/>
            <a:ext cx="3860703" cy="214313"/>
          </a:xfrm>
          <a:prstGeom prst="rect">
            <a:avLst/>
          </a:prstGeom>
          <a:noFill/>
          <a:ln/>
        </p:spPr>
        <p:txBody>
          <a:bodyPr wrap="none" lIns="0" tIns="0" rIns="0" bIns="0" rtlCol="0" anchor="t"/>
          <a:lstStyle/>
          <a:p>
            <a:pPr marL="0" indent="0" algn="l">
              <a:lnSpc>
                <a:spcPct val="112000"/>
              </a:lnSpc>
              <a:buNone/>
            </a:pPr>
            <a:r>
              <a:rPr lang="en-US" sz="1250" dirty="0">
                <a:solidFill>
                  <a:srgbClr val="A9B1CA"/>
                </a:solidFill>
                <a:latin typeface="Fira Sans" pitchFamily="34" charset="0"/>
                <a:ea typeface="Fira Sans" pitchFamily="34" charset="-122"/>
                <a:cs typeface="Fira Sans" pitchFamily="34" charset="-120"/>
              </a:rPr>
              <a:t>Live Solana Devnet connection</a:t>
            </a:r>
            <a:endParaRPr lang="en-US" sz="1250" dirty="0"/>
          </a:p>
        </p:txBody>
      </p:sp>
      <p:sp>
        <p:nvSpPr>
          <p:cNvPr id="7" name="Shape 5"/>
          <p:cNvSpPr/>
          <p:nvPr/>
        </p:nvSpPr>
        <p:spPr>
          <a:xfrm>
            <a:off x="4724282" y="603123"/>
            <a:ext cx="431789" cy="431800"/>
          </a:xfrm>
          <a:prstGeom prst="ellipse">
            <a:avLst/>
          </a:prstGeom>
          <a:solidFill>
            <a:srgbClr val="FFFFFF"/>
          </a:solidFill>
          <a:ln w="38099">
            <a:solidFill>
              <a:srgbClr val="00978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4814767" y="693610"/>
            <a:ext cx="250819" cy="250825"/>
          </a:xfrm>
          <a:prstGeom prst="rect">
            <a:avLst/>
          </a:prstGeom>
        </p:spPr>
      </p:pic>
      <p:sp>
        <p:nvSpPr>
          <p:cNvPr id="9" name="Text 6"/>
          <p:cNvSpPr/>
          <p:nvPr/>
        </p:nvSpPr>
        <p:spPr>
          <a:xfrm>
            <a:off x="5359266" y="712271"/>
            <a:ext cx="6273643" cy="280591"/>
          </a:xfrm>
          <a:prstGeom prst="rect">
            <a:avLst/>
          </a:prstGeom>
          <a:noFill/>
          <a:ln/>
        </p:spPr>
        <p:txBody>
          <a:bodyPr wrap="none" lIns="0" tIns="0" rIns="0" bIns="0" rtlCol="0" anchor="t"/>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Campaign-Based Experience</a:t>
            </a:r>
            <a:endParaRPr lang="en-US" sz="1700" dirty="0"/>
          </a:p>
        </p:txBody>
      </p:sp>
      <p:sp>
        <p:nvSpPr>
          <p:cNvPr id="10" name="Text 7"/>
          <p:cNvSpPr/>
          <p:nvPr/>
        </p:nvSpPr>
        <p:spPr>
          <a:xfrm>
            <a:off x="5359266" y="1140817"/>
            <a:ext cx="6273643" cy="522883"/>
          </a:xfrm>
          <a:prstGeom prst="rect">
            <a:avLst/>
          </a:prstGeom>
          <a:noFill/>
          <a:ln/>
        </p:spPr>
        <p:txBody>
          <a:bodyPr wrap="square" lIns="0" tIns="0" rIns="0" bIns="0" rtlCol="0" anchor="t">
            <a:normAutofit/>
          </a:bodyPr>
          <a:lstStyle/>
          <a:p>
            <a:pPr marL="0" indent="0" algn="l">
              <a:lnSpc>
                <a:spcPct val="118000"/>
              </a:lnSpc>
              <a:buNone/>
            </a:pPr>
            <a:r>
              <a:rPr lang="en-US" sz="1450" dirty="0">
                <a:solidFill>
                  <a:srgbClr val="C9CFE0"/>
                </a:solidFill>
                <a:latin typeface="Fira Sans" pitchFamily="34" charset="0"/>
                <a:ea typeface="Fira Sans" pitchFamily="34" charset="-122"/>
                <a:cs typeface="Fira Sans" pitchFamily="34" charset="-120"/>
              </a:rPr>
              <a:t>Clear relief causes with visible funding goals, organizers, and verified progress milestones.</a:t>
            </a:r>
            <a:endParaRPr lang="en-US" sz="1450" dirty="0"/>
          </a:p>
        </p:txBody>
      </p:sp>
      <p:sp>
        <p:nvSpPr>
          <p:cNvPr id="11" name="Shape 8"/>
          <p:cNvSpPr/>
          <p:nvPr/>
        </p:nvSpPr>
        <p:spPr>
          <a:xfrm>
            <a:off x="4724282" y="2165223"/>
            <a:ext cx="431789" cy="431800"/>
          </a:xfrm>
          <a:prstGeom prst="roundRect">
            <a:avLst>
              <a:gd name="adj" fmla="val 50000"/>
            </a:avLst>
          </a:prstGeom>
          <a:solidFill>
            <a:srgbClr val="FFFFFF"/>
          </a:solidFill>
          <a:ln w="38099">
            <a:solidFill>
              <a:srgbClr val="00978D"/>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814767" y="2255711"/>
            <a:ext cx="250819" cy="250825"/>
          </a:xfrm>
          <a:prstGeom prst="rect">
            <a:avLst/>
          </a:prstGeom>
        </p:spPr>
      </p:pic>
      <p:sp>
        <p:nvSpPr>
          <p:cNvPr id="13" name="Text 9"/>
          <p:cNvSpPr/>
          <p:nvPr/>
        </p:nvSpPr>
        <p:spPr>
          <a:xfrm>
            <a:off x="5359266" y="2274371"/>
            <a:ext cx="6273643" cy="280591"/>
          </a:xfrm>
          <a:prstGeom prst="rect">
            <a:avLst/>
          </a:prstGeom>
          <a:noFill/>
          <a:ln/>
        </p:spPr>
        <p:txBody>
          <a:bodyPr wrap="none" lIns="0" tIns="0" rIns="0" bIns="0" rtlCol="0" anchor="t"/>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Phantom Wallet Integration</a:t>
            </a:r>
            <a:endParaRPr lang="en-US" sz="1700" dirty="0"/>
          </a:p>
        </p:txBody>
      </p:sp>
      <p:sp>
        <p:nvSpPr>
          <p:cNvPr id="14" name="Text 10"/>
          <p:cNvSpPr/>
          <p:nvPr/>
        </p:nvSpPr>
        <p:spPr>
          <a:xfrm>
            <a:off x="5359266" y="2702917"/>
            <a:ext cx="6273643" cy="522883"/>
          </a:xfrm>
          <a:prstGeom prst="rect">
            <a:avLst/>
          </a:prstGeom>
          <a:noFill/>
          <a:ln/>
        </p:spPr>
        <p:txBody>
          <a:bodyPr wrap="square" lIns="0" tIns="0" rIns="0" bIns="0" rtlCol="0" anchor="t">
            <a:normAutofit/>
          </a:bodyPr>
          <a:lstStyle/>
          <a:p>
            <a:pPr marL="0" indent="0" algn="l">
              <a:lnSpc>
                <a:spcPct val="118000"/>
              </a:lnSpc>
              <a:buNone/>
            </a:pPr>
            <a:r>
              <a:rPr lang="en-US" sz="1450" dirty="0">
                <a:solidFill>
                  <a:srgbClr val="C9CFE0"/>
                </a:solidFill>
                <a:latin typeface="Fira Sans" pitchFamily="34" charset="0"/>
                <a:ea typeface="Fira Sans" pitchFamily="34" charset="-122"/>
                <a:cs typeface="Fira Sans" pitchFamily="34" charset="-120"/>
              </a:rPr>
              <a:t>One-click browser wallet connection supporting SPL test tokens on Solana Devnet.</a:t>
            </a:r>
            <a:endParaRPr lang="en-US" sz="1450" dirty="0"/>
          </a:p>
        </p:txBody>
      </p:sp>
      <p:sp>
        <p:nvSpPr>
          <p:cNvPr id="15" name="Shape 11"/>
          <p:cNvSpPr/>
          <p:nvPr/>
        </p:nvSpPr>
        <p:spPr>
          <a:xfrm>
            <a:off x="4724282" y="3727323"/>
            <a:ext cx="431789" cy="431800"/>
          </a:xfrm>
          <a:prstGeom prst="ellipse">
            <a:avLst/>
          </a:prstGeom>
          <a:solidFill>
            <a:srgbClr val="FFFFFF"/>
          </a:solidFill>
          <a:ln w="38099">
            <a:solidFill>
              <a:srgbClr val="00978D"/>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814767" y="3817810"/>
            <a:ext cx="250819" cy="250825"/>
          </a:xfrm>
          <a:prstGeom prst="rect">
            <a:avLst/>
          </a:prstGeom>
        </p:spPr>
      </p:pic>
      <p:sp>
        <p:nvSpPr>
          <p:cNvPr id="17" name="Text 12"/>
          <p:cNvSpPr/>
          <p:nvPr/>
        </p:nvSpPr>
        <p:spPr>
          <a:xfrm>
            <a:off x="5359266" y="3836471"/>
            <a:ext cx="6273643" cy="280591"/>
          </a:xfrm>
          <a:prstGeom prst="rect">
            <a:avLst/>
          </a:prstGeom>
          <a:noFill/>
          <a:ln/>
        </p:spPr>
        <p:txBody>
          <a:bodyPr wrap="none" lIns="0" tIns="0" rIns="0" bIns="0" rtlCol="0" anchor="t"/>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Server-Side Verification</a:t>
            </a:r>
            <a:endParaRPr lang="en-US" sz="1700" dirty="0"/>
          </a:p>
        </p:txBody>
      </p:sp>
      <p:sp>
        <p:nvSpPr>
          <p:cNvPr id="18" name="Text 13"/>
          <p:cNvSpPr/>
          <p:nvPr/>
        </p:nvSpPr>
        <p:spPr>
          <a:xfrm>
            <a:off x="5359266" y="4265017"/>
            <a:ext cx="6273643" cy="522883"/>
          </a:xfrm>
          <a:prstGeom prst="rect">
            <a:avLst/>
          </a:prstGeom>
          <a:noFill/>
          <a:ln/>
        </p:spPr>
        <p:txBody>
          <a:bodyPr wrap="square" lIns="0" tIns="0" rIns="0" bIns="0" rtlCol="0" anchor="t">
            <a:normAutofit/>
          </a:bodyPr>
          <a:lstStyle/>
          <a:p>
            <a:pPr marL="0" indent="0" algn="l">
              <a:lnSpc>
                <a:spcPct val="118000"/>
              </a:lnSpc>
              <a:buNone/>
            </a:pPr>
            <a:r>
              <a:rPr lang="en-US" sz="1450" dirty="0">
                <a:solidFill>
                  <a:srgbClr val="C9CFE0"/>
                </a:solidFill>
                <a:latin typeface="Fira Sans" pitchFamily="34" charset="0"/>
                <a:ea typeface="Fira Sans" pitchFamily="34" charset="-122"/>
                <a:cs typeface="Fira Sans" pitchFamily="34" charset="-120"/>
              </a:rPr>
              <a:t>Independent backend confirmation queries the Solana cluster before storing any record.</a:t>
            </a:r>
            <a:endParaRPr lang="en-US" sz="1450" dirty="0"/>
          </a:p>
        </p:txBody>
      </p:sp>
      <p:sp>
        <p:nvSpPr>
          <p:cNvPr id="19" name="Shape 14"/>
          <p:cNvSpPr/>
          <p:nvPr/>
        </p:nvSpPr>
        <p:spPr>
          <a:xfrm>
            <a:off x="4724282" y="5289423"/>
            <a:ext cx="431789" cy="431800"/>
          </a:xfrm>
          <a:prstGeom prst="ellipse">
            <a:avLst/>
          </a:prstGeom>
          <a:solidFill>
            <a:srgbClr val="FFFFFF"/>
          </a:solidFill>
          <a:ln w="38099">
            <a:solidFill>
              <a:srgbClr val="00978D"/>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4814767" y="5379910"/>
            <a:ext cx="250819" cy="250825"/>
          </a:xfrm>
          <a:prstGeom prst="rect">
            <a:avLst/>
          </a:prstGeom>
        </p:spPr>
      </p:pic>
      <p:sp>
        <p:nvSpPr>
          <p:cNvPr id="21" name="Text 15"/>
          <p:cNvSpPr/>
          <p:nvPr/>
        </p:nvSpPr>
        <p:spPr>
          <a:xfrm>
            <a:off x="5359266" y="5398571"/>
            <a:ext cx="6273643" cy="280591"/>
          </a:xfrm>
          <a:prstGeom prst="rect">
            <a:avLst/>
          </a:prstGeom>
          <a:noFill/>
          <a:ln/>
        </p:spPr>
        <p:txBody>
          <a:bodyPr wrap="none" lIns="0" tIns="0" rIns="0" bIns="0" rtlCol="0" anchor="t"/>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Transparency Dashboard</a:t>
            </a:r>
            <a:endParaRPr lang="en-US" sz="1700" dirty="0"/>
          </a:p>
        </p:txBody>
      </p:sp>
      <p:sp>
        <p:nvSpPr>
          <p:cNvPr id="22" name="Text 16"/>
          <p:cNvSpPr/>
          <p:nvPr/>
        </p:nvSpPr>
        <p:spPr>
          <a:xfrm>
            <a:off x="5359266" y="5827117"/>
            <a:ext cx="6273643" cy="522883"/>
          </a:xfrm>
          <a:prstGeom prst="rect">
            <a:avLst/>
          </a:prstGeom>
          <a:noFill/>
          <a:ln/>
        </p:spPr>
        <p:txBody>
          <a:bodyPr wrap="square" lIns="0" tIns="0" rIns="0" bIns="0" rtlCol="0" anchor="t">
            <a:normAutofit/>
          </a:bodyPr>
          <a:lstStyle/>
          <a:p>
            <a:pPr marL="0" indent="0" algn="l">
              <a:lnSpc>
                <a:spcPct val="118000"/>
              </a:lnSpc>
              <a:buNone/>
            </a:pPr>
            <a:r>
              <a:rPr lang="en-US" sz="1450" dirty="0">
                <a:solidFill>
                  <a:srgbClr val="C9CFE0"/>
                </a:solidFill>
                <a:latin typeface="Fira Sans" pitchFamily="34" charset="0"/>
                <a:ea typeface="Fira Sans" pitchFamily="34" charset="-122"/>
                <a:cs typeface="Fira Sans" pitchFamily="34" charset="-120"/>
              </a:rPr>
              <a:t>Public live log displaying verified totals, donor addresses, and direct Solana Explorer links.</a:t>
            </a:r>
            <a:endParaRPr lang="en-US" sz="1450" dirty="0"/>
          </a:p>
        </p:txBody>
      </p:sp>
      <p:sp>
        <p:nvSpPr>
          <p:cNvPr id="23" name="Shape 17"/>
          <p:cNvSpPr/>
          <p:nvPr/>
        </p:nvSpPr>
        <p:spPr>
          <a:xfrm>
            <a:off x="4724282" y="1860550"/>
            <a:ext cx="6908627" cy="12700"/>
          </a:xfrm>
          <a:prstGeom prst="rect">
            <a:avLst/>
          </a:prstGeom>
          <a:solidFill>
            <a:srgbClr val="6E7AA0"/>
          </a:solidFill>
          <a:ln/>
        </p:spPr>
        <p:txBody>
          <a:bodyPr/>
          <a:lstStyle/>
          <a:p>
            <a:endParaRPr lang="en-US"/>
          </a:p>
        </p:txBody>
      </p:sp>
      <p:sp>
        <p:nvSpPr>
          <p:cNvPr id="24" name="Shape 18"/>
          <p:cNvSpPr/>
          <p:nvPr/>
        </p:nvSpPr>
        <p:spPr>
          <a:xfrm>
            <a:off x="4724282" y="3422650"/>
            <a:ext cx="6908627" cy="12700"/>
          </a:xfrm>
          <a:prstGeom prst="rect">
            <a:avLst/>
          </a:prstGeom>
          <a:solidFill>
            <a:srgbClr val="6E7AA0"/>
          </a:solidFill>
          <a:ln/>
        </p:spPr>
        <p:txBody>
          <a:bodyPr/>
          <a:lstStyle/>
          <a:p>
            <a:endParaRPr lang="en-US"/>
          </a:p>
        </p:txBody>
      </p:sp>
      <p:sp>
        <p:nvSpPr>
          <p:cNvPr id="25" name="Shape 19"/>
          <p:cNvSpPr/>
          <p:nvPr/>
        </p:nvSpPr>
        <p:spPr>
          <a:xfrm>
            <a:off x="4724282" y="4984750"/>
            <a:ext cx="6908627" cy="12700"/>
          </a:xfrm>
          <a:prstGeom prst="rect">
            <a:avLst/>
          </a:prstGeom>
          <a:solidFill>
            <a:srgbClr val="6E7AA0"/>
          </a:solidFill>
          <a:ln/>
        </p:spPr>
        <p:txBody>
          <a:bodyPr/>
          <a:lstStyle/>
          <a:p>
            <a:endParaRPr lang="en-US"/>
          </a:p>
        </p:txBody>
      </p:sp>
      <p:sp>
        <p:nvSpPr>
          <p:cNvPr id="27" name="Rectangle 26">
            <a:extLst>
              <a:ext uri="{FF2B5EF4-FFF2-40B4-BE49-F238E27FC236}">
                <a16:creationId xmlns:a16="http://schemas.microsoft.com/office/drawing/2014/main" id="{10BD5E59-D21E-B60B-B856-FF740D76FBE3}"/>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9585" y="508000"/>
            <a:ext cx="1610875"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735292" y="570805"/>
            <a:ext cx="1969046"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HOW IT WORKS</a:t>
            </a:r>
            <a:endParaRPr lang="en-US" sz="1300" dirty="0"/>
          </a:p>
        </p:txBody>
      </p:sp>
      <p:sp>
        <p:nvSpPr>
          <p:cNvPr id="4" name="Text 2"/>
          <p:cNvSpPr/>
          <p:nvPr/>
        </p:nvSpPr>
        <p:spPr>
          <a:xfrm>
            <a:off x="609585" y="994593"/>
            <a:ext cx="10972526" cy="403820"/>
          </a:xfrm>
          <a:prstGeom prst="rect">
            <a:avLst/>
          </a:prstGeom>
          <a:noFill/>
          <a:ln/>
        </p:spPr>
        <p:txBody>
          <a:bodyPr wrap="none" lIns="0" tIns="0" rIns="0" bIns="0" rtlCol="0" anchor="t"/>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Seven stations from donor intent to verified impact</a:t>
            </a:r>
            <a:endParaRPr lang="en-US" sz="3000" dirty="0"/>
          </a:p>
        </p:txBody>
      </p:sp>
      <p:sp>
        <p:nvSpPr>
          <p:cNvPr id="5" name="Shape 3"/>
          <p:cNvSpPr/>
          <p:nvPr/>
        </p:nvSpPr>
        <p:spPr>
          <a:xfrm>
            <a:off x="1363827" y="2628999"/>
            <a:ext cx="754242" cy="76200"/>
          </a:xfrm>
          <a:prstGeom prst="rect">
            <a:avLst/>
          </a:prstGeom>
          <a:solidFill>
            <a:srgbClr val="00978D"/>
          </a:solidFill>
          <a:ln/>
        </p:spPr>
        <p:txBody>
          <a:bodyPr/>
          <a:lstStyle/>
          <a:p>
            <a:endParaRPr lang="en-US"/>
          </a:p>
        </p:txBody>
      </p:sp>
      <p:sp>
        <p:nvSpPr>
          <p:cNvPr id="6" name="Shape 4"/>
          <p:cNvSpPr/>
          <p:nvPr/>
        </p:nvSpPr>
        <p:spPr>
          <a:xfrm>
            <a:off x="2042069" y="2578100"/>
            <a:ext cx="152396" cy="177800"/>
          </a:xfrm>
          <a:prstGeom prst="rect">
            <a:avLst/>
          </a:prstGeom>
          <a:solidFill>
            <a:srgbClr val="00978D"/>
          </a:solidFill>
          <a:ln/>
        </p:spPr>
        <p:txBody>
          <a:bodyPr/>
          <a:lstStyle/>
          <a:p>
            <a:endParaRPr lang="en-US"/>
          </a:p>
        </p:txBody>
      </p:sp>
      <p:sp>
        <p:nvSpPr>
          <p:cNvPr id="7" name="Shape 5"/>
          <p:cNvSpPr/>
          <p:nvPr/>
        </p:nvSpPr>
        <p:spPr>
          <a:xfrm>
            <a:off x="1122632" y="2425799"/>
            <a:ext cx="482588" cy="482600"/>
          </a:xfrm>
          <a:prstGeom prst="ellipse">
            <a:avLst/>
          </a:prstGeom>
          <a:solidFill>
            <a:srgbClr val="FFFFFF"/>
          </a:solidFill>
          <a:ln w="38099">
            <a:solidFill>
              <a:srgbClr val="00978D"/>
            </a:solidFill>
            <a:prstDash val="solid"/>
          </a:ln>
        </p:spPr>
        <p:txBody>
          <a:bodyPr/>
          <a:lstStyle/>
          <a:p>
            <a:endParaRPr lang="en-US"/>
          </a:p>
        </p:txBody>
      </p:sp>
      <p:sp>
        <p:nvSpPr>
          <p:cNvPr id="8" name="Text 6"/>
          <p:cNvSpPr/>
          <p:nvPr/>
        </p:nvSpPr>
        <p:spPr>
          <a:xfrm>
            <a:off x="1300130" y="2527399"/>
            <a:ext cx="737078" cy="279400"/>
          </a:xfrm>
          <a:prstGeom prst="rect">
            <a:avLst/>
          </a:prstGeom>
          <a:noFill/>
          <a:ln/>
        </p:spPr>
        <p:txBody>
          <a:bodyPr wrap="none" lIns="0" tIns="0" rIns="0" bIns="0" rtlCol="0" anchor="t"/>
          <a:lstStyle/>
          <a:p>
            <a:pPr marL="0" indent="0" algn="l">
              <a:lnSpc>
                <a:spcPct val="83000"/>
              </a:lnSpc>
              <a:buNone/>
            </a:pPr>
            <a:r>
              <a:rPr lang="en-US" sz="2200" dirty="0">
                <a:solidFill>
                  <a:srgbClr val="051230"/>
                </a:solidFill>
                <a:latin typeface="Fira Sans SemiBold" pitchFamily="34" charset="0"/>
                <a:ea typeface="Fira Sans SemiBold" pitchFamily="34" charset="-122"/>
                <a:cs typeface="Fira Sans SemiBold" pitchFamily="34" charset="-120"/>
              </a:rPr>
              <a:t>1</a:t>
            </a:r>
            <a:endParaRPr lang="en-US" sz="2200" dirty="0"/>
          </a:p>
        </p:txBody>
      </p:sp>
      <p:sp>
        <p:nvSpPr>
          <p:cNvPr id="9" name="Text 7"/>
          <p:cNvSpPr/>
          <p:nvPr/>
        </p:nvSpPr>
        <p:spPr>
          <a:xfrm>
            <a:off x="1106361" y="3035399"/>
            <a:ext cx="1011907"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VISIT</a:t>
            </a:r>
            <a:endParaRPr lang="en-US" sz="1200" dirty="0"/>
          </a:p>
        </p:txBody>
      </p:sp>
      <p:sp>
        <p:nvSpPr>
          <p:cNvPr id="10" name="Text 8"/>
          <p:cNvSpPr/>
          <p:nvPr/>
        </p:nvSpPr>
        <p:spPr>
          <a:xfrm>
            <a:off x="609585" y="3346549"/>
            <a:ext cx="1508683" cy="43279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Donor visits a campaign</a:t>
            </a:r>
            <a:endParaRPr lang="en-US" sz="1200" dirty="0"/>
          </a:p>
        </p:txBody>
      </p:sp>
      <p:sp>
        <p:nvSpPr>
          <p:cNvPr id="11" name="Shape 9"/>
          <p:cNvSpPr/>
          <p:nvPr/>
        </p:nvSpPr>
        <p:spPr>
          <a:xfrm>
            <a:off x="2270564" y="2628999"/>
            <a:ext cx="1508881" cy="76200"/>
          </a:xfrm>
          <a:prstGeom prst="rect">
            <a:avLst/>
          </a:prstGeom>
          <a:solidFill>
            <a:srgbClr val="00978D"/>
          </a:solidFill>
          <a:ln/>
        </p:spPr>
        <p:txBody>
          <a:bodyPr/>
          <a:lstStyle/>
          <a:p>
            <a:endParaRPr lang="en-US"/>
          </a:p>
        </p:txBody>
      </p:sp>
      <p:sp>
        <p:nvSpPr>
          <p:cNvPr id="12" name="Shape 10"/>
          <p:cNvSpPr/>
          <p:nvPr/>
        </p:nvSpPr>
        <p:spPr>
          <a:xfrm>
            <a:off x="3703247" y="2578100"/>
            <a:ext cx="152396" cy="177800"/>
          </a:xfrm>
          <a:prstGeom prst="rect">
            <a:avLst/>
          </a:prstGeom>
          <a:solidFill>
            <a:srgbClr val="00978D"/>
          </a:solidFill>
          <a:ln/>
        </p:spPr>
        <p:txBody>
          <a:bodyPr/>
          <a:lstStyle/>
          <a:p>
            <a:endParaRPr lang="en-US"/>
          </a:p>
        </p:txBody>
      </p:sp>
      <p:sp>
        <p:nvSpPr>
          <p:cNvPr id="13" name="Shape 11"/>
          <p:cNvSpPr/>
          <p:nvPr/>
        </p:nvSpPr>
        <p:spPr>
          <a:xfrm>
            <a:off x="2783711" y="2425799"/>
            <a:ext cx="482588" cy="482600"/>
          </a:xfrm>
          <a:prstGeom prst="ellipse">
            <a:avLst/>
          </a:prstGeom>
          <a:solidFill>
            <a:srgbClr val="FFFFFF"/>
          </a:solidFill>
          <a:ln w="38099">
            <a:solidFill>
              <a:srgbClr val="00978D"/>
            </a:solidFill>
            <a:prstDash val="solid"/>
          </a:ln>
        </p:spPr>
        <p:txBody>
          <a:bodyPr/>
          <a:lstStyle/>
          <a:p>
            <a:endParaRPr lang="en-US"/>
          </a:p>
        </p:txBody>
      </p:sp>
      <p:sp>
        <p:nvSpPr>
          <p:cNvPr id="14" name="Text 12"/>
          <p:cNvSpPr/>
          <p:nvPr/>
        </p:nvSpPr>
        <p:spPr>
          <a:xfrm>
            <a:off x="2953470" y="2527399"/>
            <a:ext cx="752655" cy="279400"/>
          </a:xfrm>
          <a:prstGeom prst="rect">
            <a:avLst/>
          </a:prstGeom>
          <a:noFill/>
          <a:ln/>
        </p:spPr>
        <p:txBody>
          <a:bodyPr wrap="none" lIns="0" tIns="0" rIns="0" bIns="0" rtlCol="0" anchor="t"/>
          <a:lstStyle/>
          <a:p>
            <a:pPr marL="0" indent="0" algn="l">
              <a:lnSpc>
                <a:spcPct val="83000"/>
              </a:lnSpc>
              <a:buNone/>
            </a:pPr>
            <a:r>
              <a:rPr lang="en-US" sz="2200" dirty="0">
                <a:solidFill>
                  <a:srgbClr val="051230"/>
                </a:solidFill>
                <a:latin typeface="Fira Sans SemiBold" pitchFamily="34" charset="0"/>
                <a:ea typeface="Fira Sans SemiBold" pitchFamily="34" charset="-122"/>
                <a:cs typeface="Fira Sans SemiBold" pitchFamily="34" charset="-120"/>
              </a:rPr>
              <a:t>2</a:t>
            </a:r>
            <a:endParaRPr lang="en-US" sz="2200" dirty="0"/>
          </a:p>
        </p:txBody>
      </p:sp>
      <p:sp>
        <p:nvSpPr>
          <p:cNvPr id="15" name="Text 13"/>
          <p:cNvSpPr/>
          <p:nvPr/>
        </p:nvSpPr>
        <p:spPr>
          <a:xfrm>
            <a:off x="2664354" y="3035399"/>
            <a:ext cx="1115092"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CONNECT</a:t>
            </a:r>
            <a:endParaRPr lang="en-US" sz="1200" dirty="0"/>
          </a:p>
        </p:txBody>
      </p:sp>
      <p:sp>
        <p:nvSpPr>
          <p:cNvPr id="16" name="Text 14"/>
          <p:cNvSpPr/>
          <p:nvPr/>
        </p:nvSpPr>
        <p:spPr>
          <a:xfrm>
            <a:off x="2270564" y="3346549"/>
            <a:ext cx="1508881" cy="43279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Connects a Phantom wallet</a:t>
            </a:r>
            <a:endParaRPr lang="en-US" sz="1200" dirty="0"/>
          </a:p>
        </p:txBody>
      </p:sp>
      <p:sp>
        <p:nvSpPr>
          <p:cNvPr id="17" name="Shape 15"/>
          <p:cNvSpPr/>
          <p:nvPr/>
        </p:nvSpPr>
        <p:spPr>
          <a:xfrm>
            <a:off x="3931742" y="2628999"/>
            <a:ext cx="1508683" cy="76200"/>
          </a:xfrm>
          <a:prstGeom prst="rect">
            <a:avLst/>
          </a:prstGeom>
          <a:solidFill>
            <a:srgbClr val="00978D"/>
          </a:solidFill>
          <a:ln/>
        </p:spPr>
        <p:txBody>
          <a:bodyPr/>
          <a:lstStyle/>
          <a:p>
            <a:endParaRPr lang="en-US"/>
          </a:p>
        </p:txBody>
      </p:sp>
      <p:sp>
        <p:nvSpPr>
          <p:cNvPr id="18" name="Shape 16"/>
          <p:cNvSpPr/>
          <p:nvPr/>
        </p:nvSpPr>
        <p:spPr>
          <a:xfrm>
            <a:off x="5364227" y="2578100"/>
            <a:ext cx="152396" cy="177800"/>
          </a:xfrm>
          <a:prstGeom prst="rect">
            <a:avLst/>
          </a:prstGeom>
          <a:solidFill>
            <a:srgbClr val="00978D"/>
          </a:solidFill>
          <a:ln/>
        </p:spPr>
        <p:txBody>
          <a:bodyPr/>
          <a:lstStyle/>
          <a:p>
            <a:endParaRPr lang="en-US"/>
          </a:p>
        </p:txBody>
      </p:sp>
      <p:sp>
        <p:nvSpPr>
          <p:cNvPr id="19" name="Shape 17"/>
          <p:cNvSpPr/>
          <p:nvPr/>
        </p:nvSpPr>
        <p:spPr>
          <a:xfrm>
            <a:off x="4444790" y="2425799"/>
            <a:ext cx="482588" cy="482600"/>
          </a:xfrm>
          <a:prstGeom prst="ellipse">
            <a:avLst/>
          </a:prstGeom>
          <a:solidFill>
            <a:srgbClr val="FFFFFF"/>
          </a:solidFill>
          <a:ln w="38099">
            <a:solidFill>
              <a:srgbClr val="00978D"/>
            </a:solidFill>
            <a:prstDash val="solid"/>
          </a:ln>
        </p:spPr>
        <p:txBody>
          <a:bodyPr/>
          <a:lstStyle/>
          <a:p>
            <a:endParaRPr lang="en-US"/>
          </a:p>
        </p:txBody>
      </p:sp>
      <p:sp>
        <p:nvSpPr>
          <p:cNvPr id="20" name="Text 18"/>
          <p:cNvSpPr/>
          <p:nvPr/>
        </p:nvSpPr>
        <p:spPr>
          <a:xfrm>
            <a:off x="4614053" y="2527399"/>
            <a:ext cx="753548" cy="279400"/>
          </a:xfrm>
          <a:prstGeom prst="rect">
            <a:avLst/>
          </a:prstGeom>
          <a:noFill/>
          <a:ln/>
        </p:spPr>
        <p:txBody>
          <a:bodyPr wrap="none" lIns="0" tIns="0" rIns="0" bIns="0" rtlCol="0" anchor="t"/>
          <a:lstStyle/>
          <a:p>
            <a:pPr marL="0" indent="0" algn="l">
              <a:lnSpc>
                <a:spcPct val="83000"/>
              </a:lnSpc>
              <a:buNone/>
            </a:pPr>
            <a:r>
              <a:rPr lang="en-US" sz="2200" dirty="0">
                <a:solidFill>
                  <a:srgbClr val="051230"/>
                </a:solidFill>
                <a:latin typeface="Fira Sans SemiBold" pitchFamily="34" charset="0"/>
                <a:ea typeface="Fira Sans SemiBold" pitchFamily="34" charset="-122"/>
                <a:cs typeface="Fira Sans SemiBold" pitchFamily="34" charset="-120"/>
              </a:rPr>
              <a:t>3</a:t>
            </a:r>
            <a:endParaRPr lang="en-US" sz="2200" dirty="0"/>
          </a:p>
        </p:txBody>
      </p:sp>
      <p:sp>
        <p:nvSpPr>
          <p:cNvPr id="21" name="Text 19"/>
          <p:cNvSpPr/>
          <p:nvPr/>
        </p:nvSpPr>
        <p:spPr>
          <a:xfrm>
            <a:off x="4377025" y="3035399"/>
            <a:ext cx="1063499"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DONATE</a:t>
            </a:r>
            <a:endParaRPr lang="en-US" sz="1200" dirty="0"/>
          </a:p>
        </p:txBody>
      </p:sp>
      <p:sp>
        <p:nvSpPr>
          <p:cNvPr id="22" name="Text 20"/>
          <p:cNvSpPr/>
          <p:nvPr/>
        </p:nvSpPr>
        <p:spPr>
          <a:xfrm>
            <a:off x="3931742" y="3346549"/>
            <a:ext cx="1508782" cy="43279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Starts a supported token donation</a:t>
            </a:r>
            <a:endParaRPr lang="en-US" sz="1200" dirty="0"/>
          </a:p>
        </p:txBody>
      </p:sp>
      <p:sp>
        <p:nvSpPr>
          <p:cNvPr id="23" name="Shape 21"/>
          <p:cNvSpPr/>
          <p:nvPr/>
        </p:nvSpPr>
        <p:spPr>
          <a:xfrm>
            <a:off x="5592821" y="2628999"/>
            <a:ext cx="1508881" cy="76200"/>
          </a:xfrm>
          <a:prstGeom prst="rect">
            <a:avLst/>
          </a:prstGeom>
          <a:solidFill>
            <a:srgbClr val="00978D"/>
          </a:solidFill>
          <a:ln/>
        </p:spPr>
        <p:txBody>
          <a:bodyPr/>
          <a:lstStyle/>
          <a:p>
            <a:endParaRPr lang="en-US"/>
          </a:p>
        </p:txBody>
      </p:sp>
      <p:sp>
        <p:nvSpPr>
          <p:cNvPr id="24" name="Shape 22"/>
          <p:cNvSpPr/>
          <p:nvPr/>
        </p:nvSpPr>
        <p:spPr>
          <a:xfrm>
            <a:off x="7025504" y="2578100"/>
            <a:ext cx="152396" cy="177800"/>
          </a:xfrm>
          <a:prstGeom prst="rect">
            <a:avLst/>
          </a:prstGeom>
          <a:solidFill>
            <a:srgbClr val="00978D"/>
          </a:solidFill>
          <a:ln/>
        </p:spPr>
        <p:txBody>
          <a:bodyPr/>
          <a:lstStyle/>
          <a:p>
            <a:endParaRPr lang="en-US"/>
          </a:p>
        </p:txBody>
      </p:sp>
      <p:sp>
        <p:nvSpPr>
          <p:cNvPr id="25" name="Shape 23"/>
          <p:cNvSpPr/>
          <p:nvPr/>
        </p:nvSpPr>
        <p:spPr>
          <a:xfrm>
            <a:off x="6105968" y="2425799"/>
            <a:ext cx="482588" cy="482600"/>
          </a:xfrm>
          <a:prstGeom prst="ellipse">
            <a:avLst/>
          </a:prstGeom>
          <a:solidFill>
            <a:srgbClr val="FFFFFF"/>
          </a:solidFill>
          <a:ln w="38099">
            <a:solidFill>
              <a:srgbClr val="00978D"/>
            </a:solidFill>
            <a:prstDash val="solid"/>
          </a:ln>
        </p:spPr>
        <p:txBody>
          <a:bodyPr/>
          <a:lstStyle/>
          <a:p>
            <a:endParaRPr lang="en-US"/>
          </a:p>
        </p:txBody>
      </p:sp>
      <p:sp>
        <p:nvSpPr>
          <p:cNvPr id="26" name="Text 24"/>
          <p:cNvSpPr/>
          <p:nvPr/>
        </p:nvSpPr>
        <p:spPr>
          <a:xfrm>
            <a:off x="6269377" y="2527399"/>
            <a:ext cx="765255" cy="279400"/>
          </a:xfrm>
          <a:prstGeom prst="rect">
            <a:avLst/>
          </a:prstGeom>
          <a:noFill/>
          <a:ln/>
        </p:spPr>
        <p:txBody>
          <a:bodyPr wrap="none" lIns="0" tIns="0" rIns="0" bIns="0" rtlCol="0" anchor="t"/>
          <a:lstStyle/>
          <a:p>
            <a:pPr marL="0" indent="0" algn="l">
              <a:lnSpc>
                <a:spcPct val="83000"/>
              </a:lnSpc>
              <a:buNone/>
            </a:pPr>
            <a:r>
              <a:rPr lang="en-US" sz="2200" dirty="0">
                <a:solidFill>
                  <a:srgbClr val="051230"/>
                </a:solidFill>
                <a:latin typeface="Fira Sans SemiBold" pitchFamily="34" charset="0"/>
                <a:ea typeface="Fira Sans SemiBold" pitchFamily="34" charset="-122"/>
                <a:cs typeface="Fira Sans SemiBold" pitchFamily="34" charset="-120"/>
              </a:rPr>
              <a:t>4</a:t>
            </a:r>
            <a:endParaRPr lang="en-US" sz="2200" dirty="0"/>
          </a:p>
        </p:txBody>
      </p:sp>
      <p:sp>
        <p:nvSpPr>
          <p:cNvPr id="27" name="Text 25"/>
          <p:cNvSpPr/>
          <p:nvPr/>
        </p:nvSpPr>
        <p:spPr>
          <a:xfrm>
            <a:off x="6038104" y="3035399"/>
            <a:ext cx="1063598"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SUBMIT</a:t>
            </a:r>
            <a:endParaRPr lang="en-US" sz="1200" dirty="0"/>
          </a:p>
        </p:txBody>
      </p:sp>
      <p:sp>
        <p:nvSpPr>
          <p:cNvPr id="28" name="Text 26"/>
          <p:cNvSpPr/>
          <p:nvPr/>
        </p:nvSpPr>
        <p:spPr>
          <a:xfrm>
            <a:off x="5592821" y="3346549"/>
            <a:ext cx="1508881" cy="43279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Transaction goes to Solana Devnet</a:t>
            </a:r>
            <a:endParaRPr lang="en-US" sz="1200" dirty="0"/>
          </a:p>
        </p:txBody>
      </p:sp>
      <p:sp>
        <p:nvSpPr>
          <p:cNvPr id="29" name="Shape 27"/>
          <p:cNvSpPr/>
          <p:nvPr/>
        </p:nvSpPr>
        <p:spPr>
          <a:xfrm>
            <a:off x="7253999" y="2628999"/>
            <a:ext cx="1341007" cy="76200"/>
          </a:xfrm>
          <a:prstGeom prst="rect">
            <a:avLst/>
          </a:prstGeom>
          <a:solidFill>
            <a:srgbClr val="00978D"/>
          </a:solidFill>
          <a:ln/>
        </p:spPr>
        <p:txBody>
          <a:bodyPr/>
          <a:lstStyle/>
          <a:p>
            <a:endParaRPr lang="en-US"/>
          </a:p>
        </p:txBody>
      </p:sp>
      <p:sp>
        <p:nvSpPr>
          <p:cNvPr id="30" name="Shape 28"/>
          <p:cNvSpPr/>
          <p:nvPr/>
        </p:nvSpPr>
        <p:spPr>
          <a:xfrm>
            <a:off x="8518808" y="2578100"/>
            <a:ext cx="152396" cy="177800"/>
          </a:xfrm>
          <a:prstGeom prst="rect">
            <a:avLst/>
          </a:prstGeom>
          <a:solidFill>
            <a:srgbClr val="00978D"/>
          </a:solidFill>
          <a:ln/>
        </p:spPr>
        <p:txBody>
          <a:bodyPr/>
          <a:lstStyle/>
          <a:p>
            <a:endParaRPr lang="en-US"/>
          </a:p>
        </p:txBody>
      </p:sp>
      <p:sp>
        <p:nvSpPr>
          <p:cNvPr id="31" name="Shape 29"/>
          <p:cNvSpPr/>
          <p:nvPr/>
        </p:nvSpPr>
        <p:spPr>
          <a:xfrm>
            <a:off x="7683209" y="2425799"/>
            <a:ext cx="482588" cy="482600"/>
          </a:xfrm>
          <a:prstGeom prst="ellipse">
            <a:avLst/>
          </a:prstGeom>
          <a:solidFill>
            <a:srgbClr val="FFFFFF"/>
          </a:solidFill>
          <a:ln w="38099">
            <a:solidFill>
              <a:srgbClr val="00978D"/>
            </a:solidFill>
            <a:prstDash val="solid"/>
          </a:ln>
        </p:spPr>
        <p:txBody>
          <a:bodyPr/>
          <a:lstStyle/>
          <a:p>
            <a:endParaRPr lang="en-US"/>
          </a:p>
        </p:txBody>
      </p:sp>
      <p:sp>
        <p:nvSpPr>
          <p:cNvPr id="32" name="Text 30"/>
          <p:cNvSpPr/>
          <p:nvPr/>
        </p:nvSpPr>
        <p:spPr>
          <a:xfrm>
            <a:off x="7850785" y="2527399"/>
            <a:ext cx="744320" cy="279400"/>
          </a:xfrm>
          <a:prstGeom prst="rect">
            <a:avLst/>
          </a:prstGeom>
          <a:noFill/>
          <a:ln/>
        </p:spPr>
        <p:txBody>
          <a:bodyPr wrap="none" lIns="0" tIns="0" rIns="0" bIns="0" rtlCol="0" anchor="t"/>
          <a:lstStyle/>
          <a:p>
            <a:pPr marL="0" indent="0" algn="l">
              <a:lnSpc>
                <a:spcPct val="83000"/>
              </a:lnSpc>
              <a:buNone/>
            </a:pPr>
            <a:r>
              <a:rPr lang="en-US" sz="2200" dirty="0">
                <a:solidFill>
                  <a:srgbClr val="051230"/>
                </a:solidFill>
                <a:latin typeface="Fira Sans SemiBold" pitchFamily="34" charset="0"/>
                <a:ea typeface="Fira Sans SemiBold" pitchFamily="34" charset="-122"/>
                <a:cs typeface="Fira Sans SemiBold" pitchFamily="34" charset="-120"/>
              </a:rPr>
              <a:t>5</a:t>
            </a:r>
            <a:endParaRPr lang="en-US" sz="2200" dirty="0"/>
          </a:p>
        </p:txBody>
      </p:sp>
      <p:sp>
        <p:nvSpPr>
          <p:cNvPr id="33" name="Text 31"/>
          <p:cNvSpPr/>
          <p:nvPr/>
        </p:nvSpPr>
        <p:spPr>
          <a:xfrm>
            <a:off x="7615444" y="3035399"/>
            <a:ext cx="979661"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VERIFY</a:t>
            </a:r>
            <a:endParaRPr lang="en-US" sz="1200" dirty="0"/>
          </a:p>
        </p:txBody>
      </p:sp>
      <p:sp>
        <p:nvSpPr>
          <p:cNvPr id="34" name="Text 32"/>
          <p:cNvSpPr/>
          <p:nvPr/>
        </p:nvSpPr>
        <p:spPr>
          <a:xfrm>
            <a:off x="7253999" y="3346549"/>
            <a:ext cx="134110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Backend independently verifies the transfer</a:t>
            </a:r>
            <a:endParaRPr lang="en-US" sz="1200" dirty="0"/>
          </a:p>
        </p:txBody>
      </p:sp>
      <p:sp>
        <p:nvSpPr>
          <p:cNvPr id="35" name="Shape 33"/>
          <p:cNvSpPr/>
          <p:nvPr/>
        </p:nvSpPr>
        <p:spPr>
          <a:xfrm>
            <a:off x="8747402" y="2628999"/>
            <a:ext cx="1341106" cy="76200"/>
          </a:xfrm>
          <a:prstGeom prst="rect">
            <a:avLst/>
          </a:prstGeom>
          <a:solidFill>
            <a:srgbClr val="00978D"/>
          </a:solidFill>
          <a:ln/>
        </p:spPr>
        <p:txBody>
          <a:bodyPr/>
          <a:lstStyle/>
          <a:p>
            <a:endParaRPr lang="en-US"/>
          </a:p>
        </p:txBody>
      </p:sp>
      <p:sp>
        <p:nvSpPr>
          <p:cNvPr id="36" name="Shape 34"/>
          <p:cNvSpPr/>
          <p:nvPr/>
        </p:nvSpPr>
        <p:spPr>
          <a:xfrm>
            <a:off x="10012310" y="2578100"/>
            <a:ext cx="152396" cy="177800"/>
          </a:xfrm>
          <a:prstGeom prst="rect">
            <a:avLst/>
          </a:prstGeom>
          <a:solidFill>
            <a:srgbClr val="00978D"/>
          </a:solidFill>
          <a:ln/>
        </p:spPr>
        <p:txBody>
          <a:bodyPr/>
          <a:lstStyle/>
          <a:p>
            <a:endParaRPr lang="en-US"/>
          </a:p>
        </p:txBody>
      </p:sp>
      <p:sp>
        <p:nvSpPr>
          <p:cNvPr id="37" name="Shape 35"/>
          <p:cNvSpPr/>
          <p:nvPr/>
        </p:nvSpPr>
        <p:spPr>
          <a:xfrm>
            <a:off x="9176711" y="2425799"/>
            <a:ext cx="482588" cy="482600"/>
          </a:xfrm>
          <a:prstGeom prst="ellipse">
            <a:avLst/>
          </a:prstGeom>
          <a:solidFill>
            <a:srgbClr val="FFFFFF"/>
          </a:solidFill>
          <a:ln w="38099">
            <a:solidFill>
              <a:srgbClr val="00978D"/>
            </a:solidFill>
            <a:prstDash val="solid"/>
          </a:ln>
        </p:spPr>
        <p:txBody>
          <a:bodyPr/>
          <a:lstStyle/>
          <a:p>
            <a:endParaRPr lang="en-US"/>
          </a:p>
        </p:txBody>
      </p:sp>
      <p:sp>
        <p:nvSpPr>
          <p:cNvPr id="38" name="Text 36"/>
          <p:cNvSpPr/>
          <p:nvPr/>
        </p:nvSpPr>
        <p:spPr>
          <a:xfrm>
            <a:off x="9340319" y="2527399"/>
            <a:ext cx="748289" cy="279400"/>
          </a:xfrm>
          <a:prstGeom prst="rect">
            <a:avLst/>
          </a:prstGeom>
          <a:noFill/>
          <a:ln/>
        </p:spPr>
        <p:txBody>
          <a:bodyPr wrap="none" lIns="0" tIns="0" rIns="0" bIns="0" rtlCol="0" anchor="t"/>
          <a:lstStyle/>
          <a:p>
            <a:pPr marL="0" indent="0" algn="l">
              <a:lnSpc>
                <a:spcPct val="83000"/>
              </a:lnSpc>
              <a:buNone/>
            </a:pPr>
            <a:r>
              <a:rPr lang="en-US" sz="2200" dirty="0">
                <a:solidFill>
                  <a:srgbClr val="051230"/>
                </a:solidFill>
                <a:latin typeface="Fira Sans SemiBold" pitchFamily="34" charset="0"/>
                <a:ea typeface="Fira Sans SemiBold" pitchFamily="34" charset="-122"/>
                <a:cs typeface="Fira Sans SemiBold" pitchFamily="34" charset="-120"/>
              </a:rPr>
              <a:t>6</a:t>
            </a:r>
            <a:endParaRPr lang="en-US" sz="2200" dirty="0"/>
          </a:p>
        </p:txBody>
      </p:sp>
      <p:sp>
        <p:nvSpPr>
          <p:cNvPr id="39" name="Text 37"/>
          <p:cNvSpPr/>
          <p:nvPr/>
        </p:nvSpPr>
        <p:spPr>
          <a:xfrm>
            <a:off x="9108847" y="3035399"/>
            <a:ext cx="979761"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RECORD</a:t>
            </a:r>
            <a:endParaRPr lang="en-US" sz="1200" dirty="0"/>
          </a:p>
        </p:txBody>
      </p:sp>
      <p:sp>
        <p:nvSpPr>
          <p:cNvPr id="40" name="Text 38"/>
          <p:cNvSpPr/>
          <p:nvPr/>
        </p:nvSpPr>
        <p:spPr>
          <a:xfrm>
            <a:off x="8747402" y="3346549"/>
            <a:ext cx="134120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Only verified donations are recorded as verified</a:t>
            </a:r>
            <a:endParaRPr lang="en-US" sz="1200" dirty="0"/>
          </a:p>
        </p:txBody>
      </p:sp>
      <p:sp>
        <p:nvSpPr>
          <p:cNvPr id="41" name="Shape 39"/>
          <p:cNvSpPr/>
          <p:nvPr/>
        </p:nvSpPr>
        <p:spPr>
          <a:xfrm>
            <a:off x="10240905" y="2628999"/>
            <a:ext cx="670504" cy="76200"/>
          </a:xfrm>
          <a:prstGeom prst="rect">
            <a:avLst/>
          </a:prstGeom>
          <a:solidFill>
            <a:srgbClr val="00978D"/>
          </a:solidFill>
          <a:ln/>
        </p:spPr>
        <p:txBody>
          <a:bodyPr/>
          <a:lstStyle/>
          <a:p>
            <a:endParaRPr lang="en-US"/>
          </a:p>
        </p:txBody>
      </p:sp>
      <p:sp>
        <p:nvSpPr>
          <p:cNvPr id="42" name="Shape 40"/>
          <p:cNvSpPr/>
          <p:nvPr/>
        </p:nvSpPr>
        <p:spPr>
          <a:xfrm>
            <a:off x="10670214" y="2425799"/>
            <a:ext cx="482588" cy="482600"/>
          </a:xfrm>
          <a:prstGeom prst="ellipse">
            <a:avLst/>
          </a:prstGeom>
          <a:solidFill>
            <a:srgbClr val="FFFFFF"/>
          </a:solidFill>
          <a:ln w="38099">
            <a:solidFill>
              <a:srgbClr val="00978D"/>
            </a:solidFill>
            <a:prstDash val="solid"/>
          </a:ln>
        </p:spPr>
        <p:txBody>
          <a:bodyPr/>
          <a:lstStyle/>
          <a:p>
            <a:endParaRPr lang="en-US"/>
          </a:p>
        </p:txBody>
      </p:sp>
      <p:sp>
        <p:nvSpPr>
          <p:cNvPr id="43" name="Text 41"/>
          <p:cNvSpPr/>
          <p:nvPr/>
        </p:nvSpPr>
        <p:spPr>
          <a:xfrm>
            <a:off x="10846918" y="2527399"/>
            <a:ext cx="735193" cy="279400"/>
          </a:xfrm>
          <a:prstGeom prst="rect">
            <a:avLst/>
          </a:prstGeom>
          <a:noFill/>
          <a:ln/>
        </p:spPr>
        <p:txBody>
          <a:bodyPr wrap="none" lIns="0" tIns="0" rIns="0" bIns="0" rtlCol="0" anchor="t"/>
          <a:lstStyle/>
          <a:p>
            <a:pPr marL="0" indent="0" algn="l">
              <a:lnSpc>
                <a:spcPct val="83000"/>
              </a:lnSpc>
              <a:buNone/>
            </a:pPr>
            <a:r>
              <a:rPr lang="en-US" sz="2200" dirty="0">
                <a:solidFill>
                  <a:srgbClr val="051230"/>
                </a:solidFill>
                <a:latin typeface="Fira Sans SemiBold" pitchFamily="34" charset="0"/>
                <a:ea typeface="Fira Sans SemiBold" pitchFamily="34" charset="-122"/>
                <a:cs typeface="Fira Sans SemiBold" pitchFamily="34" charset="-120"/>
              </a:rPr>
              <a:t>7</a:t>
            </a:r>
            <a:endParaRPr lang="en-US" sz="2200" dirty="0"/>
          </a:p>
        </p:txBody>
      </p:sp>
      <p:sp>
        <p:nvSpPr>
          <p:cNvPr id="44" name="Text 42"/>
          <p:cNvSpPr/>
          <p:nvPr/>
        </p:nvSpPr>
        <p:spPr>
          <a:xfrm>
            <a:off x="10447870" y="3035399"/>
            <a:ext cx="1134240"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DASHBOARD</a:t>
            </a:r>
            <a:endParaRPr lang="en-US" sz="1200" dirty="0"/>
          </a:p>
        </p:txBody>
      </p:sp>
      <p:sp>
        <p:nvSpPr>
          <p:cNvPr id="45" name="Text 43"/>
          <p:cNvSpPr/>
          <p:nvPr/>
        </p:nvSpPr>
        <p:spPr>
          <a:xfrm>
            <a:off x="10240905" y="3346549"/>
            <a:ext cx="1341206" cy="43279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Shows verified records and totals</a:t>
            </a:r>
            <a:endParaRPr lang="en-US" sz="1200" dirty="0"/>
          </a:p>
        </p:txBody>
      </p:sp>
      <p:sp>
        <p:nvSpPr>
          <p:cNvPr id="46" name="Shape 44"/>
          <p:cNvSpPr/>
          <p:nvPr/>
        </p:nvSpPr>
        <p:spPr>
          <a:xfrm>
            <a:off x="7193080" y="4415334"/>
            <a:ext cx="4389030" cy="38100"/>
          </a:xfrm>
          <a:prstGeom prst="rect">
            <a:avLst/>
          </a:prstGeom>
          <a:solidFill>
            <a:srgbClr val="EB5324"/>
          </a:solidFill>
          <a:ln/>
        </p:spPr>
        <p:txBody>
          <a:bodyPr/>
          <a:lstStyle/>
          <a:p>
            <a:endParaRPr lang="en-US"/>
          </a:p>
        </p:txBody>
      </p:sp>
      <p:sp>
        <p:nvSpPr>
          <p:cNvPr id="47" name="Shape 45"/>
          <p:cNvSpPr/>
          <p:nvPr/>
        </p:nvSpPr>
        <p:spPr>
          <a:xfrm>
            <a:off x="7066183" y="4339134"/>
            <a:ext cx="152396" cy="177800"/>
          </a:xfrm>
          <a:prstGeom prst="rect">
            <a:avLst/>
          </a:prstGeom>
          <a:solidFill>
            <a:srgbClr val="EB5324"/>
          </a:solidFill>
          <a:ln/>
        </p:spPr>
        <p:txBody>
          <a:bodyPr/>
          <a:lstStyle/>
          <a:p>
            <a:endParaRPr lang="en-US"/>
          </a:p>
        </p:txBody>
      </p:sp>
      <p:sp>
        <p:nvSpPr>
          <p:cNvPr id="48" name="Shape 46"/>
          <p:cNvSpPr/>
          <p:nvPr/>
        </p:nvSpPr>
        <p:spPr>
          <a:xfrm>
            <a:off x="7902377" y="4580434"/>
            <a:ext cx="2970337" cy="326827"/>
          </a:xfrm>
          <a:prstGeom prst="roundRect">
            <a:avLst>
              <a:gd name="adj" fmla="val 49999"/>
            </a:avLst>
          </a:prstGeom>
          <a:solidFill>
            <a:srgbClr val="EB5324"/>
          </a:solidFill>
          <a:ln/>
        </p:spPr>
        <p:txBody>
          <a:bodyPr/>
          <a:lstStyle/>
          <a:p>
            <a:endParaRPr lang="en-US"/>
          </a:p>
        </p:txBody>
      </p:sp>
      <p:sp>
        <p:nvSpPr>
          <p:cNvPr id="49" name="Text 47"/>
          <p:cNvSpPr/>
          <p:nvPr/>
        </p:nvSpPr>
        <p:spPr>
          <a:xfrm>
            <a:off x="8028084" y="4643239"/>
            <a:ext cx="3328507"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NOT RECORDED AS VERIFIED</a:t>
            </a:r>
            <a:endParaRPr lang="en-US" sz="1300" dirty="0"/>
          </a:p>
        </p:txBody>
      </p:sp>
      <p:sp>
        <p:nvSpPr>
          <p:cNvPr id="50" name="Text 48"/>
          <p:cNvSpPr/>
          <p:nvPr/>
        </p:nvSpPr>
        <p:spPr>
          <a:xfrm>
            <a:off x="7193080" y="5028704"/>
            <a:ext cx="4389030" cy="225425"/>
          </a:xfrm>
          <a:prstGeom prst="rect">
            <a:avLst/>
          </a:prstGeom>
          <a:noFill/>
          <a:ln/>
        </p:spPr>
        <p:txBody>
          <a:bodyPr wrap="none" lIns="0" tIns="0" rIns="0" bIns="0" rtlCol="0" anchor="t"/>
          <a:lstStyle/>
          <a:p>
            <a:pPr marL="0" indent="0" algn="ctr">
              <a:lnSpc>
                <a:spcPct val="118000"/>
              </a:lnSpc>
              <a:buNone/>
            </a:pPr>
            <a:r>
              <a:rPr lang="en-US" sz="1250" dirty="0">
                <a:solidFill>
                  <a:srgbClr val="C9CFE0"/>
                </a:solidFill>
                <a:latin typeface="Fira Sans" pitchFamily="34" charset="0"/>
                <a:ea typeface="Fira Sans" pitchFamily="34" charset="-122"/>
                <a:cs typeface="Fira Sans" pitchFamily="34" charset="-120"/>
              </a:rPr>
              <a:t>Not recorded as verified.</a:t>
            </a:r>
            <a:endParaRPr lang="en-US" sz="1250" dirty="0"/>
          </a:p>
        </p:txBody>
      </p:sp>
      <p:sp>
        <p:nvSpPr>
          <p:cNvPr id="51" name="Text 49"/>
          <p:cNvSpPr/>
          <p:nvPr/>
        </p:nvSpPr>
        <p:spPr>
          <a:xfrm>
            <a:off x="609585" y="6190059"/>
            <a:ext cx="5410065" cy="214313"/>
          </a:xfrm>
          <a:prstGeom prst="rect">
            <a:avLst/>
          </a:prstGeom>
          <a:noFill/>
          <a:ln/>
        </p:spPr>
        <p:txBody>
          <a:bodyPr wrap="none" lIns="0" tIns="0" rIns="0" bIns="0" rtlCol="0" anchor="t"/>
          <a:lstStyle/>
          <a:p>
            <a:pPr marL="0" indent="0" algn="l">
              <a:lnSpc>
                <a:spcPct val="112000"/>
              </a:lnSpc>
              <a:buNone/>
            </a:pPr>
            <a:r>
              <a:rPr lang="en-US" sz="1250" dirty="0">
                <a:solidFill>
                  <a:srgbClr val="A9B1CA"/>
                </a:solidFill>
                <a:latin typeface="Fira Sans" pitchFamily="34" charset="0"/>
                <a:ea typeface="Fira Sans" pitchFamily="34" charset="-122"/>
                <a:cs typeface="Fira Sans" pitchFamily="34" charset="-120"/>
              </a:rPr>
              <a:t>Primary verification pathway</a:t>
            </a:r>
            <a:endParaRPr lang="en-US" sz="1250" dirty="0"/>
          </a:p>
        </p:txBody>
      </p:sp>
      <p:sp>
        <p:nvSpPr>
          <p:cNvPr id="52" name="Text 50"/>
          <p:cNvSpPr/>
          <p:nvPr/>
        </p:nvSpPr>
        <p:spPr>
          <a:xfrm>
            <a:off x="6172046" y="6190059"/>
            <a:ext cx="5410065" cy="214313"/>
          </a:xfrm>
          <a:prstGeom prst="rect">
            <a:avLst/>
          </a:prstGeom>
          <a:noFill/>
          <a:ln/>
        </p:spPr>
        <p:txBody>
          <a:bodyPr wrap="none" lIns="0" tIns="0" rIns="0" bIns="0" rtlCol="0" anchor="t"/>
          <a:lstStyle/>
          <a:p>
            <a:pPr marL="0" indent="0" algn="l">
              <a:lnSpc>
                <a:spcPct val="112000"/>
              </a:lnSpc>
              <a:buNone/>
            </a:pPr>
            <a:r>
              <a:rPr lang="en-US" sz="1250" dirty="0">
                <a:solidFill>
                  <a:srgbClr val="A9B1CA"/>
                </a:solidFill>
                <a:latin typeface="Fira Sans" pitchFamily="34" charset="0"/>
                <a:ea typeface="Fira Sans" pitchFamily="34" charset="-122"/>
                <a:cs typeface="Fira Sans" pitchFamily="34" charset="-120"/>
              </a:rPr>
              <a:t>Exception branch: unverified transactions rejected</a:t>
            </a:r>
            <a:endParaRPr lang="en-US" sz="1250" dirty="0"/>
          </a:p>
        </p:txBody>
      </p:sp>
      <p:sp>
        <p:nvSpPr>
          <p:cNvPr id="54" name="Rectangle 53">
            <a:extLst>
              <a:ext uri="{FF2B5EF4-FFF2-40B4-BE49-F238E27FC236}">
                <a16:creationId xmlns:a16="http://schemas.microsoft.com/office/drawing/2014/main" id="{38023B21-CC1B-ECEA-7A0C-5DD8D15E5557}"/>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09585" y="508000"/>
            <a:ext cx="2630422"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735292" y="570805"/>
            <a:ext cx="2988592"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ARCHITECTURE CONCEPTS</a:t>
            </a:r>
            <a:endParaRPr lang="en-US" sz="1300" dirty="0"/>
          </a:p>
        </p:txBody>
      </p:sp>
      <p:sp>
        <p:nvSpPr>
          <p:cNvPr id="4" name="Text 2"/>
          <p:cNvSpPr/>
          <p:nvPr/>
        </p:nvSpPr>
        <p:spPr>
          <a:xfrm>
            <a:off x="609585" y="994593"/>
            <a:ext cx="10972526" cy="403820"/>
          </a:xfrm>
          <a:prstGeom prst="rect">
            <a:avLst/>
          </a:prstGeom>
          <a:noFill/>
          <a:ln/>
        </p:spPr>
        <p:txBody>
          <a:bodyPr wrap="none" lIns="0" tIns="0" rIns="0" bIns="0" rtlCol="0" anchor="t"/>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Phantom and Solana, in plain language</a:t>
            </a:r>
            <a:endParaRPr lang="en-US" sz="3000" dirty="0"/>
          </a:p>
        </p:txBody>
      </p:sp>
      <p:sp>
        <p:nvSpPr>
          <p:cNvPr id="5" name="Shape 3"/>
          <p:cNvSpPr/>
          <p:nvPr/>
        </p:nvSpPr>
        <p:spPr>
          <a:xfrm>
            <a:off x="609585" y="1518047"/>
            <a:ext cx="5333867" cy="2864445"/>
          </a:xfrm>
          <a:prstGeom prst="rect">
            <a:avLst/>
          </a:prstGeom>
          <a:solidFill>
            <a:srgbClr val="0E1D45"/>
          </a:solidFill>
          <a:ln/>
        </p:spPr>
        <p:txBody>
          <a:bodyPr/>
          <a:lstStyle/>
          <a:p>
            <a:endParaRPr lang="en-US"/>
          </a:p>
        </p:txBody>
      </p:sp>
      <p:sp>
        <p:nvSpPr>
          <p:cNvPr id="6" name="Shape 4"/>
          <p:cNvSpPr/>
          <p:nvPr/>
        </p:nvSpPr>
        <p:spPr>
          <a:xfrm>
            <a:off x="888978" y="1772047"/>
            <a:ext cx="1837485" cy="326827"/>
          </a:xfrm>
          <a:prstGeom prst="roundRect">
            <a:avLst>
              <a:gd name="adj" fmla="val 49999"/>
            </a:avLst>
          </a:prstGeom>
          <a:solidFill>
            <a:srgbClr val="FFFFFF"/>
          </a:solidFill>
          <a:ln/>
        </p:spPr>
        <p:txBody>
          <a:bodyPr/>
          <a:lstStyle/>
          <a:p>
            <a:endParaRPr lang="en-US"/>
          </a:p>
        </p:txBody>
      </p:sp>
      <p:sp>
        <p:nvSpPr>
          <p:cNvPr id="7" name="Text 5"/>
          <p:cNvSpPr/>
          <p:nvPr/>
        </p:nvSpPr>
        <p:spPr>
          <a:xfrm>
            <a:off x="1014685" y="1834852"/>
            <a:ext cx="2195656"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PHANTOM WALLET</a:t>
            </a:r>
            <a:endParaRPr lang="en-US" sz="1300" dirty="0"/>
          </a:p>
        </p:txBody>
      </p:sp>
      <p:sp>
        <p:nvSpPr>
          <p:cNvPr id="8" name="Text 6"/>
          <p:cNvSpPr/>
          <p:nvPr/>
        </p:nvSpPr>
        <p:spPr>
          <a:xfrm>
            <a:off x="888978" y="2225873"/>
            <a:ext cx="4775081" cy="363141"/>
          </a:xfrm>
          <a:prstGeom prst="rect">
            <a:avLst/>
          </a:prstGeom>
          <a:noFill/>
          <a:ln/>
        </p:spPr>
        <p:txBody>
          <a:bodyPr wrap="none" lIns="0" tIns="0" rIns="0" bIns="0" rtlCol="0" anchor="t"/>
          <a:lstStyle/>
          <a:p>
            <a:pPr marL="0" indent="0" algn="l">
              <a:lnSpc>
                <a:spcPct val="108000"/>
              </a:lnSpc>
              <a:buNone/>
            </a:pPr>
            <a:r>
              <a:rPr lang="en-US" sz="2200" dirty="0">
                <a:solidFill>
                  <a:srgbClr val="C9CFE0"/>
                </a:solidFill>
                <a:latin typeface="Fira Sans" pitchFamily="34" charset="0"/>
                <a:ea typeface="Fira Sans" pitchFamily="34" charset="-122"/>
                <a:cs typeface="Fira Sans" pitchFamily="34" charset="-120"/>
              </a:rPr>
              <a:t>Non-custodial authorization</a:t>
            </a:r>
            <a:endParaRPr lang="en-US" sz="2200" dirty="0"/>
          </a:p>
        </p:txBody>
      </p:sp>
      <p:sp>
        <p:nvSpPr>
          <p:cNvPr id="9" name="Text 7"/>
          <p:cNvSpPr/>
          <p:nvPr/>
        </p:nvSpPr>
        <p:spPr>
          <a:xfrm>
            <a:off x="888978" y="2716014"/>
            <a:ext cx="4775081" cy="1045766"/>
          </a:xfrm>
          <a:prstGeom prst="rect">
            <a:avLst/>
          </a:prstGeom>
          <a:noFill/>
          <a:ln/>
        </p:spPr>
        <p:txBody>
          <a:bodyPr wrap="square" lIns="0" tIns="0" rIns="0" bIns="0" rtlCol="0" anchor="t">
            <a:normAutofit/>
          </a:bodyPr>
          <a:lstStyle/>
          <a:p>
            <a:pPr marL="0" indent="0" algn="l">
              <a:lnSpc>
                <a:spcPct val="118000"/>
              </a:lnSpc>
              <a:buNone/>
            </a:pPr>
            <a:r>
              <a:rPr lang="en-US" sz="1450" dirty="0">
                <a:solidFill>
                  <a:srgbClr val="C9CFE0"/>
                </a:solidFill>
                <a:latin typeface="Fira Sans" pitchFamily="34" charset="0"/>
                <a:ea typeface="Fira Sans" pitchFamily="34" charset="-122"/>
                <a:cs typeface="Fira Sans" pitchFamily="34" charset="-120"/>
              </a:rPr>
              <a:t>Phantom securely manages the donor’s keys. When contributing, the user signs locally inside their wallet app. The ReliefChain backend never sees, handles, or stores private keys.</a:t>
            </a:r>
            <a:endParaRPr lang="en-US" sz="1450" dirty="0"/>
          </a:p>
        </p:txBody>
      </p:sp>
      <p:sp>
        <p:nvSpPr>
          <p:cNvPr id="10" name="Text 8"/>
          <p:cNvSpPr/>
          <p:nvPr/>
        </p:nvSpPr>
        <p:spPr>
          <a:xfrm>
            <a:off x="888978" y="3917752"/>
            <a:ext cx="5054474" cy="214313"/>
          </a:xfrm>
          <a:prstGeom prst="rect">
            <a:avLst/>
          </a:prstGeom>
          <a:noFill/>
          <a:ln/>
        </p:spPr>
        <p:txBody>
          <a:bodyPr wrap="none" lIns="0" tIns="0" rIns="0" bIns="0" rtlCol="0" anchor="t"/>
          <a:lstStyle/>
          <a:p>
            <a:pPr marL="0" indent="0" algn="l">
              <a:lnSpc>
                <a:spcPct val="112000"/>
              </a:lnSpc>
              <a:buNone/>
            </a:pPr>
            <a:r>
              <a:rPr lang="en-US" sz="1250" dirty="0">
                <a:solidFill>
                  <a:srgbClr val="C9CFE0"/>
                </a:solidFill>
                <a:latin typeface="Fira Sans" pitchFamily="34" charset="0"/>
                <a:ea typeface="Fira Sans" pitchFamily="34" charset="-122"/>
                <a:cs typeface="Fira Sans" pitchFamily="34" charset="-120"/>
              </a:rPr>
              <a:t>Key custody stays 100% with the user</a:t>
            </a:r>
            <a:endParaRPr lang="en-US" sz="1250" dirty="0"/>
          </a:p>
        </p:txBody>
      </p:sp>
      <p:sp>
        <p:nvSpPr>
          <p:cNvPr id="11" name="Shape 9"/>
          <p:cNvSpPr/>
          <p:nvPr/>
        </p:nvSpPr>
        <p:spPr>
          <a:xfrm>
            <a:off x="6248244" y="1518047"/>
            <a:ext cx="5333867" cy="2864445"/>
          </a:xfrm>
          <a:prstGeom prst="rect">
            <a:avLst/>
          </a:prstGeom>
          <a:solidFill>
            <a:srgbClr val="0E1D45"/>
          </a:solidFill>
          <a:ln/>
        </p:spPr>
        <p:txBody>
          <a:bodyPr/>
          <a:lstStyle/>
          <a:p>
            <a:endParaRPr lang="en-US"/>
          </a:p>
        </p:txBody>
      </p:sp>
      <p:sp>
        <p:nvSpPr>
          <p:cNvPr id="12" name="Shape 10"/>
          <p:cNvSpPr/>
          <p:nvPr/>
        </p:nvSpPr>
        <p:spPr>
          <a:xfrm>
            <a:off x="6527637" y="1772047"/>
            <a:ext cx="1724180" cy="326827"/>
          </a:xfrm>
          <a:prstGeom prst="roundRect">
            <a:avLst>
              <a:gd name="adj" fmla="val 49999"/>
            </a:avLst>
          </a:prstGeom>
          <a:solidFill>
            <a:srgbClr val="FFFFFF"/>
          </a:solidFill>
          <a:ln/>
        </p:spPr>
        <p:txBody>
          <a:bodyPr/>
          <a:lstStyle/>
          <a:p>
            <a:endParaRPr lang="en-US"/>
          </a:p>
        </p:txBody>
      </p:sp>
      <p:sp>
        <p:nvSpPr>
          <p:cNvPr id="13" name="Text 11"/>
          <p:cNvSpPr/>
          <p:nvPr/>
        </p:nvSpPr>
        <p:spPr>
          <a:xfrm>
            <a:off x="6653344" y="1834852"/>
            <a:ext cx="2082351"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SOLANA DEVNET</a:t>
            </a:r>
            <a:endParaRPr lang="en-US" sz="1300" dirty="0"/>
          </a:p>
        </p:txBody>
      </p:sp>
      <p:sp>
        <p:nvSpPr>
          <p:cNvPr id="14" name="Text 12"/>
          <p:cNvSpPr/>
          <p:nvPr/>
        </p:nvSpPr>
        <p:spPr>
          <a:xfrm>
            <a:off x="6527637" y="2225873"/>
            <a:ext cx="4775081" cy="363141"/>
          </a:xfrm>
          <a:prstGeom prst="rect">
            <a:avLst/>
          </a:prstGeom>
          <a:noFill/>
          <a:ln/>
        </p:spPr>
        <p:txBody>
          <a:bodyPr wrap="none" lIns="0" tIns="0" rIns="0" bIns="0" rtlCol="0" anchor="t"/>
          <a:lstStyle/>
          <a:p>
            <a:pPr marL="0" indent="0" algn="l">
              <a:lnSpc>
                <a:spcPct val="108000"/>
              </a:lnSpc>
              <a:buNone/>
            </a:pPr>
            <a:r>
              <a:rPr lang="en-US" sz="2200" dirty="0">
                <a:solidFill>
                  <a:srgbClr val="C9CFE0"/>
                </a:solidFill>
                <a:latin typeface="Fira Sans" pitchFamily="34" charset="0"/>
                <a:ea typeface="Fira Sans" pitchFamily="34" charset="-122"/>
                <a:cs typeface="Fira Sans" pitchFamily="34" charset="-120"/>
              </a:rPr>
              <a:t>Decentralized state engine</a:t>
            </a:r>
            <a:endParaRPr lang="en-US" sz="2200" dirty="0"/>
          </a:p>
        </p:txBody>
      </p:sp>
      <p:sp>
        <p:nvSpPr>
          <p:cNvPr id="15" name="Text 13"/>
          <p:cNvSpPr/>
          <p:nvPr/>
        </p:nvSpPr>
        <p:spPr>
          <a:xfrm>
            <a:off x="6527637" y="2716014"/>
            <a:ext cx="4775081" cy="1045766"/>
          </a:xfrm>
          <a:prstGeom prst="rect">
            <a:avLst/>
          </a:prstGeom>
          <a:noFill/>
          <a:ln/>
        </p:spPr>
        <p:txBody>
          <a:bodyPr wrap="square" lIns="0" tIns="0" rIns="0" bIns="0" rtlCol="0" anchor="t">
            <a:normAutofit/>
          </a:bodyPr>
          <a:lstStyle/>
          <a:p>
            <a:pPr marL="0" indent="0" algn="l">
              <a:lnSpc>
                <a:spcPct val="118000"/>
              </a:lnSpc>
              <a:buNone/>
            </a:pPr>
            <a:r>
              <a:rPr lang="en-US" sz="1450" dirty="0">
                <a:solidFill>
                  <a:srgbClr val="C9CFE0"/>
                </a:solidFill>
                <a:latin typeface="Fira Sans" pitchFamily="34" charset="0"/>
                <a:ea typeface="Fira Sans" pitchFamily="34" charset="-122"/>
                <a:cs typeface="Fira Sans" pitchFamily="34" charset="-120"/>
              </a:rPr>
              <a:t>Solana settles transactions in sub-second slots with minimal fees. The ledger provides immutable public proof, allowing anyone to inspect signatures on Solana Explorer.</a:t>
            </a:r>
            <a:endParaRPr lang="en-US" sz="1450" dirty="0"/>
          </a:p>
        </p:txBody>
      </p:sp>
      <p:sp>
        <p:nvSpPr>
          <p:cNvPr id="16" name="Text 14"/>
          <p:cNvSpPr/>
          <p:nvPr/>
        </p:nvSpPr>
        <p:spPr>
          <a:xfrm>
            <a:off x="6527637" y="3917752"/>
            <a:ext cx="5054474" cy="214313"/>
          </a:xfrm>
          <a:prstGeom prst="rect">
            <a:avLst/>
          </a:prstGeom>
          <a:noFill/>
          <a:ln/>
        </p:spPr>
        <p:txBody>
          <a:bodyPr wrap="none" lIns="0" tIns="0" rIns="0" bIns="0" rtlCol="0" anchor="t"/>
          <a:lstStyle/>
          <a:p>
            <a:pPr marL="0" indent="0" algn="l">
              <a:lnSpc>
                <a:spcPct val="112000"/>
              </a:lnSpc>
              <a:buNone/>
            </a:pPr>
            <a:r>
              <a:rPr lang="en-US" sz="1250" dirty="0">
                <a:solidFill>
                  <a:srgbClr val="C9CFE0"/>
                </a:solidFill>
                <a:latin typeface="Fira Sans" pitchFamily="34" charset="0"/>
                <a:ea typeface="Fira Sans" pitchFamily="34" charset="-122"/>
                <a:cs typeface="Fira Sans" pitchFamily="34" charset="-120"/>
              </a:rPr>
              <a:t>Public on-chain ledger proof</a:t>
            </a:r>
            <a:endParaRPr lang="en-US" sz="1250" dirty="0"/>
          </a:p>
        </p:txBody>
      </p:sp>
      <p:sp>
        <p:nvSpPr>
          <p:cNvPr id="17" name="Shape 15"/>
          <p:cNvSpPr/>
          <p:nvPr/>
        </p:nvSpPr>
        <p:spPr>
          <a:xfrm>
            <a:off x="609585" y="4585692"/>
            <a:ext cx="10972526" cy="483096"/>
          </a:xfrm>
          <a:prstGeom prst="rect">
            <a:avLst/>
          </a:prstGeom>
          <a:solidFill>
            <a:srgbClr val="051230"/>
          </a:solidFill>
          <a:ln w="6350">
            <a:solidFill>
              <a:srgbClr val="2A3864"/>
            </a:solidFill>
            <a:prstDash val="solid"/>
          </a:ln>
        </p:spPr>
        <p:txBody>
          <a:bodyPr/>
          <a:lstStyle/>
          <a:p>
            <a:endParaRPr lang="en-US"/>
          </a:p>
        </p:txBody>
      </p:sp>
      <p:sp>
        <p:nvSpPr>
          <p:cNvPr id="18" name="Text 16"/>
          <p:cNvSpPr/>
          <p:nvPr/>
        </p:nvSpPr>
        <p:spPr>
          <a:xfrm>
            <a:off x="609585" y="4719042"/>
            <a:ext cx="10972526" cy="216396"/>
          </a:xfrm>
          <a:prstGeom prst="rect">
            <a:avLst/>
          </a:prstGeom>
          <a:noFill/>
          <a:ln/>
        </p:spPr>
        <p:txBody>
          <a:bodyPr wrap="none" lIns="0" tIns="0" rIns="0" bIns="0" rtlCol="0" anchor="t"/>
          <a:lstStyle/>
          <a:p>
            <a:pPr marL="0" indent="0" algn="ctr">
              <a:lnSpc>
                <a:spcPct val="118000"/>
              </a:lnSpc>
              <a:buNone/>
            </a:pPr>
            <a:r>
              <a:rPr lang="en-US" sz="1200" kern="100" spc="36" dirty="0">
                <a:solidFill>
                  <a:srgbClr val="FFFFFF"/>
                </a:solidFill>
                <a:latin typeface="Overpass Mono" pitchFamily="34" charset="0"/>
                <a:ea typeface="Overpass Mono" pitchFamily="34" charset="-122"/>
                <a:cs typeface="Overpass Mono" pitchFamily="34" charset="-120"/>
              </a:rPr>
              <a:t>Status: Solana Devnet demonstration prototype · Running on test tokens, not real money.</a:t>
            </a:r>
            <a:endParaRPr lang="en-US" sz="1200" dirty="0"/>
          </a:p>
        </p:txBody>
      </p:sp>
      <p:sp>
        <p:nvSpPr>
          <p:cNvPr id="20" name="Rectangle 19">
            <a:extLst>
              <a:ext uri="{FF2B5EF4-FFF2-40B4-BE49-F238E27FC236}">
                <a16:creationId xmlns:a16="http://schemas.microsoft.com/office/drawing/2014/main" id="{8A61693D-EFC7-8538-2D07-C3BCB82A7452}"/>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09585" y="908050"/>
            <a:ext cx="2630422"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735292" y="970855"/>
            <a:ext cx="2988592"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APPLICATION INTERFACE</a:t>
            </a:r>
            <a:endParaRPr lang="en-US" sz="1300" dirty="0"/>
          </a:p>
        </p:txBody>
      </p:sp>
      <p:sp>
        <p:nvSpPr>
          <p:cNvPr id="4" name="Text 2"/>
          <p:cNvSpPr/>
          <p:nvPr/>
        </p:nvSpPr>
        <p:spPr>
          <a:xfrm>
            <a:off x="609585" y="1420043"/>
            <a:ext cx="10972526" cy="403820"/>
          </a:xfrm>
          <a:prstGeom prst="rect">
            <a:avLst/>
          </a:prstGeom>
          <a:noFill/>
          <a:ln/>
        </p:spPr>
        <p:txBody>
          <a:bodyPr wrap="none" lIns="0" tIns="0" rIns="0" bIns="0" rtlCol="0" anchor="t"/>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The product, as it runs today</a:t>
            </a:r>
            <a:endParaRPr lang="en-US" sz="3000" dirty="0"/>
          </a:p>
        </p:txBody>
      </p:sp>
      <p:sp>
        <p:nvSpPr>
          <p:cNvPr id="5" name="Shape 3"/>
          <p:cNvSpPr/>
          <p:nvPr/>
        </p:nvSpPr>
        <p:spPr>
          <a:xfrm>
            <a:off x="609585" y="1943497"/>
            <a:ext cx="3505112" cy="1692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p:spPr>
        <p:txBody>
          <a:bodyPr/>
          <a:lstStyle/>
          <a:p>
            <a:endParaRPr lang="en-US" dirty="0"/>
          </a:p>
        </p:txBody>
      </p:sp>
      <p:sp>
        <p:nvSpPr>
          <p:cNvPr id="7" name="Text 5"/>
          <p:cNvSpPr/>
          <p:nvPr/>
        </p:nvSpPr>
        <p:spPr>
          <a:xfrm>
            <a:off x="938487" y="2184102"/>
            <a:ext cx="1855741" cy="201216"/>
          </a:xfrm>
          <a:prstGeom prst="rect">
            <a:avLst/>
          </a:prstGeom>
          <a:noFill/>
          <a:ln/>
        </p:spPr>
        <p:txBody>
          <a:bodyPr wrap="none" lIns="0" tIns="0" rIns="0" bIns="0" rtlCol="0" anchor="t"/>
          <a:lstStyle/>
          <a:p>
            <a:pPr marL="0" indent="0" algn="l">
              <a:lnSpc>
                <a:spcPct val="100000"/>
              </a:lnSpc>
              <a:buNone/>
            </a:pPr>
            <a:endParaRPr lang="en-US" sz="1300" dirty="0"/>
          </a:p>
        </p:txBody>
      </p:sp>
      <p:sp>
        <p:nvSpPr>
          <p:cNvPr id="8" name="Text 6"/>
          <p:cNvSpPr/>
          <p:nvPr/>
        </p:nvSpPr>
        <p:spPr>
          <a:xfrm>
            <a:off x="812780" y="2535118"/>
            <a:ext cx="3098722" cy="280591"/>
          </a:xfrm>
          <a:prstGeom prst="rect">
            <a:avLst/>
          </a:prstGeom>
          <a:noFill/>
          <a:ln/>
        </p:spPr>
        <p:txBody>
          <a:bodyPr wrap="none" lIns="0" tIns="0" rIns="0" bIns="0" rtlCol="0" anchor="t"/>
          <a:lstStyle/>
          <a:p>
            <a:pPr marL="0" indent="0" algn="l">
              <a:lnSpc>
                <a:spcPct val="108000"/>
              </a:lnSpc>
              <a:buNone/>
            </a:pPr>
            <a:endParaRPr lang="en-US" sz="1700" dirty="0"/>
          </a:p>
        </p:txBody>
      </p:sp>
      <p:sp>
        <p:nvSpPr>
          <p:cNvPr id="9" name="Text 7"/>
          <p:cNvSpPr/>
          <p:nvPr/>
        </p:nvSpPr>
        <p:spPr>
          <a:xfrm>
            <a:off x="812780" y="2967236"/>
            <a:ext cx="3301917" cy="214313"/>
          </a:xfrm>
          <a:prstGeom prst="rect">
            <a:avLst/>
          </a:prstGeom>
          <a:noFill/>
          <a:ln/>
        </p:spPr>
        <p:txBody>
          <a:bodyPr wrap="none" lIns="0" tIns="0" rIns="0" bIns="0" rtlCol="0" anchor="t"/>
          <a:lstStyle/>
          <a:p>
            <a:pPr marL="0" indent="0" algn="l">
              <a:lnSpc>
                <a:spcPct val="112000"/>
              </a:lnSpc>
              <a:buNone/>
            </a:pPr>
            <a:endParaRPr lang="en-US" sz="1250" dirty="0"/>
          </a:p>
        </p:txBody>
      </p:sp>
      <p:sp>
        <p:nvSpPr>
          <p:cNvPr id="10" name="Shape 8"/>
          <p:cNvSpPr/>
          <p:nvPr/>
        </p:nvSpPr>
        <p:spPr>
          <a:xfrm>
            <a:off x="4419489" y="1943497"/>
            <a:ext cx="3352716" cy="169287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p:spPr>
        <p:txBody>
          <a:bodyPr/>
          <a:lstStyle/>
          <a:p>
            <a:endParaRPr lang="en-US"/>
          </a:p>
        </p:txBody>
      </p:sp>
      <p:sp>
        <p:nvSpPr>
          <p:cNvPr id="12" name="Text 10"/>
          <p:cNvSpPr/>
          <p:nvPr/>
        </p:nvSpPr>
        <p:spPr>
          <a:xfrm>
            <a:off x="4748391" y="2184102"/>
            <a:ext cx="1855741" cy="201216"/>
          </a:xfrm>
          <a:prstGeom prst="rect">
            <a:avLst/>
          </a:prstGeom>
          <a:noFill/>
          <a:ln/>
        </p:spPr>
        <p:txBody>
          <a:bodyPr wrap="none" lIns="0" tIns="0" rIns="0" bIns="0" rtlCol="0" anchor="t"/>
          <a:lstStyle/>
          <a:p>
            <a:pPr marL="0" indent="0" algn="l">
              <a:lnSpc>
                <a:spcPct val="100000"/>
              </a:lnSpc>
              <a:buNone/>
            </a:pPr>
            <a:endParaRPr lang="en-US" sz="1300" dirty="0"/>
          </a:p>
        </p:txBody>
      </p:sp>
      <p:sp>
        <p:nvSpPr>
          <p:cNvPr id="13" name="Text 11"/>
          <p:cNvSpPr/>
          <p:nvPr/>
        </p:nvSpPr>
        <p:spPr>
          <a:xfrm>
            <a:off x="4622684" y="2535118"/>
            <a:ext cx="2946326" cy="280591"/>
          </a:xfrm>
          <a:prstGeom prst="rect">
            <a:avLst/>
          </a:prstGeom>
          <a:noFill/>
          <a:ln/>
        </p:spPr>
        <p:txBody>
          <a:bodyPr wrap="none" lIns="0" tIns="0" rIns="0" bIns="0" rtlCol="0" anchor="t"/>
          <a:lstStyle/>
          <a:p>
            <a:pPr marL="0" indent="0" algn="l">
              <a:lnSpc>
                <a:spcPct val="108000"/>
              </a:lnSpc>
              <a:buNone/>
            </a:pPr>
            <a:endParaRPr lang="en-US" sz="1700" dirty="0"/>
          </a:p>
        </p:txBody>
      </p:sp>
      <p:sp>
        <p:nvSpPr>
          <p:cNvPr id="14" name="Text 12"/>
          <p:cNvSpPr/>
          <p:nvPr/>
        </p:nvSpPr>
        <p:spPr>
          <a:xfrm>
            <a:off x="4622684" y="2967236"/>
            <a:ext cx="3149521" cy="214313"/>
          </a:xfrm>
          <a:prstGeom prst="rect">
            <a:avLst/>
          </a:prstGeom>
          <a:noFill/>
          <a:ln/>
        </p:spPr>
        <p:txBody>
          <a:bodyPr wrap="none" lIns="0" tIns="0" rIns="0" bIns="0" rtlCol="0" anchor="t"/>
          <a:lstStyle/>
          <a:p>
            <a:pPr marL="0" indent="0" algn="l">
              <a:lnSpc>
                <a:spcPct val="112000"/>
              </a:lnSpc>
              <a:buNone/>
            </a:pPr>
            <a:endParaRPr lang="en-US" sz="1250" dirty="0"/>
          </a:p>
        </p:txBody>
      </p:sp>
      <p:sp>
        <p:nvSpPr>
          <p:cNvPr id="15" name="Shape 13"/>
          <p:cNvSpPr/>
          <p:nvPr/>
        </p:nvSpPr>
        <p:spPr>
          <a:xfrm>
            <a:off x="8076998" y="1943497"/>
            <a:ext cx="3505112" cy="169287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p:spPr>
        <p:txBody>
          <a:bodyPr/>
          <a:lstStyle/>
          <a:p>
            <a:endParaRPr lang="en-US"/>
          </a:p>
        </p:txBody>
      </p:sp>
      <p:sp>
        <p:nvSpPr>
          <p:cNvPr id="17" name="Text 15"/>
          <p:cNvSpPr/>
          <p:nvPr/>
        </p:nvSpPr>
        <p:spPr>
          <a:xfrm>
            <a:off x="8405900" y="2184102"/>
            <a:ext cx="1855741" cy="201216"/>
          </a:xfrm>
          <a:prstGeom prst="rect">
            <a:avLst/>
          </a:prstGeom>
          <a:noFill/>
          <a:ln/>
        </p:spPr>
        <p:txBody>
          <a:bodyPr wrap="none" lIns="0" tIns="0" rIns="0" bIns="0" rtlCol="0" anchor="t"/>
          <a:lstStyle/>
          <a:p>
            <a:pPr marL="0" indent="0" algn="l">
              <a:lnSpc>
                <a:spcPct val="100000"/>
              </a:lnSpc>
              <a:buNone/>
            </a:pPr>
            <a:endParaRPr lang="en-US" sz="1300" dirty="0"/>
          </a:p>
        </p:txBody>
      </p:sp>
      <p:sp>
        <p:nvSpPr>
          <p:cNvPr id="18" name="Text 16"/>
          <p:cNvSpPr/>
          <p:nvPr/>
        </p:nvSpPr>
        <p:spPr>
          <a:xfrm>
            <a:off x="8280193" y="2535118"/>
            <a:ext cx="3098722" cy="561181"/>
          </a:xfrm>
          <a:prstGeom prst="rect">
            <a:avLst/>
          </a:prstGeom>
          <a:noFill/>
          <a:ln/>
        </p:spPr>
        <p:txBody>
          <a:bodyPr wrap="square" lIns="0" tIns="0" rIns="0" bIns="0" rtlCol="0" anchor="t">
            <a:normAutofit/>
          </a:bodyPr>
          <a:lstStyle/>
          <a:p>
            <a:pPr marL="0" indent="0" algn="l">
              <a:lnSpc>
                <a:spcPct val="108000"/>
              </a:lnSpc>
              <a:buNone/>
            </a:pPr>
            <a:endParaRPr lang="en-US" sz="1700" dirty="0"/>
          </a:p>
        </p:txBody>
      </p:sp>
      <p:sp>
        <p:nvSpPr>
          <p:cNvPr id="19" name="Text 17"/>
          <p:cNvSpPr/>
          <p:nvPr/>
        </p:nvSpPr>
        <p:spPr>
          <a:xfrm>
            <a:off x="8280193" y="3247827"/>
            <a:ext cx="3301917" cy="214313"/>
          </a:xfrm>
          <a:prstGeom prst="rect">
            <a:avLst/>
          </a:prstGeom>
          <a:noFill/>
          <a:ln/>
        </p:spPr>
        <p:txBody>
          <a:bodyPr wrap="none" lIns="0" tIns="0" rIns="0" bIns="0" rtlCol="0" anchor="t"/>
          <a:lstStyle/>
          <a:p>
            <a:pPr marL="0" indent="0" algn="l">
              <a:lnSpc>
                <a:spcPct val="112000"/>
              </a:lnSpc>
              <a:buNone/>
            </a:pPr>
            <a:endParaRPr lang="en-US" sz="1250" dirty="0"/>
          </a:p>
        </p:txBody>
      </p:sp>
      <p:sp>
        <p:nvSpPr>
          <p:cNvPr id="20" name="Shape 18"/>
          <p:cNvSpPr/>
          <p:nvPr/>
        </p:nvSpPr>
        <p:spPr>
          <a:xfrm>
            <a:off x="609585" y="3941167"/>
            <a:ext cx="3505112" cy="1692870"/>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p:spPr>
        <p:txBody>
          <a:bodyPr/>
          <a:lstStyle/>
          <a:p>
            <a:endParaRPr lang="en-US"/>
          </a:p>
        </p:txBody>
      </p:sp>
      <p:sp>
        <p:nvSpPr>
          <p:cNvPr id="22" name="Text 20"/>
          <p:cNvSpPr/>
          <p:nvPr/>
        </p:nvSpPr>
        <p:spPr>
          <a:xfrm>
            <a:off x="938487" y="4181773"/>
            <a:ext cx="1855741" cy="201216"/>
          </a:xfrm>
          <a:prstGeom prst="rect">
            <a:avLst/>
          </a:prstGeom>
          <a:noFill/>
          <a:ln/>
        </p:spPr>
        <p:txBody>
          <a:bodyPr wrap="none" lIns="0" tIns="0" rIns="0" bIns="0" rtlCol="0" anchor="t"/>
          <a:lstStyle/>
          <a:p>
            <a:pPr marL="0" indent="0" algn="l">
              <a:lnSpc>
                <a:spcPct val="100000"/>
              </a:lnSpc>
              <a:buNone/>
            </a:pPr>
            <a:endParaRPr lang="en-US" sz="1300" dirty="0"/>
          </a:p>
        </p:txBody>
      </p:sp>
      <p:sp>
        <p:nvSpPr>
          <p:cNvPr id="23" name="Text 21"/>
          <p:cNvSpPr/>
          <p:nvPr/>
        </p:nvSpPr>
        <p:spPr>
          <a:xfrm>
            <a:off x="812780" y="4532789"/>
            <a:ext cx="3098722" cy="280591"/>
          </a:xfrm>
          <a:prstGeom prst="rect">
            <a:avLst/>
          </a:prstGeom>
          <a:noFill/>
          <a:ln/>
        </p:spPr>
        <p:txBody>
          <a:bodyPr wrap="none" lIns="0" tIns="0" rIns="0" bIns="0" rtlCol="0" anchor="t"/>
          <a:lstStyle/>
          <a:p>
            <a:pPr marL="0" indent="0" algn="l">
              <a:lnSpc>
                <a:spcPct val="108000"/>
              </a:lnSpc>
              <a:buNone/>
            </a:pPr>
            <a:endParaRPr lang="en-US" sz="1700" dirty="0"/>
          </a:p>
        </p:txBody>
      </p:sp>
      <p:sp>
        <p:nvSpPr>
          <p:cNvPr id="24" name="Text 22"/>
          <p:cNvSpPr/>
          <p:nvPr/>
        </p:nvSpPr>
        <p:spPr>
          <a:xfrm>
            <a:off x="812780" y="4964906"/>
            <a:ext cx="3301917" cy="214313"/>
          </a:xfrm>
          <a:prstGeom prst="rect">
            <a:avLst/>
          </a:prstGeom>
          <a:noFill/>
          <a:ln/>
        </p:spPr>
        <p:txBody>
          <a:bodyPr wrap="none" lIns="0" tIns="0" rIns="0" bIns="0" rtlCol="0" anchor="t"/>
          <a:lstStyle/>
          <a:p>
            <a:pPr marL="0" indent="0" algn="l">
              <a:lnSpc>
                <a:spcPct val="112000"/>
              </a:lnSpc>
              <a:buNone/>
            </a:pPr>
            <a:endParaRPr lang="en-US" sz="1250" dirty="0"/>
          </a:p>
        </p:txBody>
      </p:sp>
      <p:sp>
        <p:nvSpPr>
          <p:cNvPr id="25" name="Shape 23"/>
          <p:cNvSpPr/>
          <p:nvPr/>
        </p:nvSpPr>
        <p:spPr>
          <a:xfrm>
            <a:off x="4419489" y="3941167"/>
            <a:ext cx="3352716" cy="1692870"/>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p:spPr>
        <p:txBody>
          <a:bodyPr/>
          <a:lstStyle/>
          <a:p>
            <a:endParaRPr lang="en-US" dirty="0"/>
          </a:p>
        </p:txBody>
      </p:sp>
      <p:sp>
        <p:nvSpPr>
          <p:cNvPr id="27" name="Text 25"/>
          <p:cNvSpPr/>
          <p:nvPr/>
        </p:nvSpPr>
        <p:spPr>
          <a:xfrm>
            <a:off x="4748391" y="4181773"/>
            <a:ext cx="1855741" cy="201216"/>
          </a:xfrm>
          <a:prstGeom prst="rect">
            <a:avLst/>
          </a:prstGeom>
          <a:noFill/>
          <a:ln/>
        </p:spPr>
        <p:txBody>
          <a:bodyPr wrap="none" lIns="0" tIns="0" rIns="0" bIns="0" rtlCol="0" anchor="t"/>
          <a:lstStyle/>
          <a:p>
            <a:pPr marL="0" indent="0" algn="l">
              <a:lnSpc>
                <a:spcPct val="100000"/>
              </a:lnSpc>
              <a:buNone/>
            </a:pPr>
            <a:endParaRPr lang="en-US" sz="1300" dirty="0"/>
          </a:p>
        </p:txBody>
      </p:sp>
      <p:sp>
        <p:nvSpPr>
          <p:cNvPr id="28" name="Text 26"/>
          <p:cNvSpPr/>
          <p:nvPr/>
        </p:nvSpPr>
        <p:spPr>
          <a:xfrm>
            <a:off x="4622684" y="4532789"/>
            <a:ext cx="2946326" cy="280591"/>
          </a:xfrm>
          <a:prstGeom prst="rect">
            <a:avLst/>
          </a:prstGeom>
          <a:noFill/>
          <a:ln/>
        </p:spPr>
        <p:txBody>
          <a:bodyPr wrap="none" lIns="0" tIns="0" rIns="0" bIns="0" rtlCol="0" anchor="t"/>
          <a:lstStyle/>
          <a:p>
            <a:pPr marL="0" indent="0" algn="l">
              <a:lnSpc>
                <a:spcPct val="108000"/>
              </a:lnSpc>
              <a:buNone/>
            </a:pPr>
            <a:endParaRPr lang="en-US" sz="1700" dirty="0"/>
          </a:p>
        </p:txBody>
      </p:sp>
      <p:sp>
        <p:nvSpPr>
          <p:cNvPr id="29" name="Text 27"/>
          <p:cNvSpPr/>
          <p:nvPr/>
        </p:nvSpPr>
        <p:spPr>
          <a:xfrm>
            <a:off x="4622684" y="4964906"/>
            <a:ext cx="3149521" cy="214313"/>
          </a:xfrm>
          <a:prstGeom prst="rect">
            <a:avLst/>
          </a:prstGeom>
          <a:noFill/>
          <a:ln/>
        </p:spPr>
        <p:txBody>
          <a:bodyPr wrap="none" lIns="0" tIns="0" rIns="0" bIns="0" rtlCol="0" anchor="t"/>
          <a:lstStyle/>
          <a:p>
            <a:pPr marL="0" indent="0" algn="l">
              <a:lnSpc>
                <a:spcPct val="112000"/>
              </a:lnSpc>
              <a:buNone/>
            </a:pPr>
            <a:endParaRPr lang="en-US" sz="1250" dirty="0"/>
          </a:p>
        </p:txBody>
      </p:sp>
      <p:sp>
        <p:nvSpPr>
          <p:cNvPr id="30" name="Shape 28"/>
          <p:cNvSpPr/>
          <p:nvPr/>
        </p:nvSpPr>
        <p:spPr>
          <a:xfrm>
            <a:off x="8076998" y="3941167"/>
            <a:ext cx="3505112" cy="1692870"/>
          </a:xfrm>
          <a:prstGeom prst="rect">
            <a:avLst/>
          </a:prstGeom>
          <a:blipFill dpi="0" rotWithShape="1">
            <a:blip r:embed="rId8">
              <a:extLst>
                <a:ext uri="{28A0092B-C50C-407E-A947-70E740481C1C}">
                  <a14:useLocalDpi xmlns:a14="http://schemas.microsoft.com/office/drawing/2010/main" val="0"/>
                </a:ext>
              </a:extLst>
            </a:blip>
            <a:srcRect/>
            <a:stretch>
              <a:fillRect/>
            </a:stretch>
          </a:blipFill>
          <a:ln/>
        </p:spPr>
        <p:txBody>
          <a:bodyPr/>
          <a:lstStyle/>
          <a:p>
            <a:endParaRPr lang="en-US"/>
          </a:p>
        </p:txBody>
      </p:sp>
      <p:sp>
        <p:nvSpPr>
          <p:cNvPr id="32" name="Text 30"/>
          <p:cNvSpPr/>
          <p:nvPr/>
        </p:nvSpPr>
        <p:spPr>
          <a:xfrm>
            <a:off x="8405900" y="4181773"/>
            <a:ext cx="1855741" cy="201216"/>
          </a:xfrm>
          <a:prstGeom prst="rect">
            <a:avLst/>
          </a:prstGeom>
          <a:noFill/>
          <a:ln/>
        </p:spPr>
        <p:txBody>
          <a:bodyPr wrap="none" lIns="0" tIns="0" rIns="0" bIns="0" rtlCol="0" anchor="t"/>
          <a:lstStyle/>
          <a:p>
            <a:pPr marL="0" indent="0" algn="l">
              <a:lnSpc>
                <a:spcPct val="100000"/>
              </a:lnSpc>
              <a:buNone/>
            </a:pPr>
            <a:endParaRPr lang="en-US" sz="1300" dirty="0"/>
          </a:p>
        </p:txBody>
      </p:sp>
      <p:sp>
        <p:nvSpPr>
          <p:cNvPr id="33" name="Text 31"/>
          <p:cNvSpPr/>
          <p:nvPr/>
        </p:nvSpPr>
        <p:spPr>
          <a:xfrm>
            <a:off x="8280193" y="4532789"/>
            <a:ext cx="3098722" cy="561181"/>
          </a:xfrm>
          <a:prstGeom prst="rect">
            <a:avLst/>
          </a:prstGeom>
          <a:noFill/>
          <a:ln/>
        </p:spPr>
        <p:txBody>
          <a:bodyPr wrap="square" lIns="0" tIns="0" rIns="0" bIns="0" rtlCol="0" anchor="t">
            <a:normAutofit/>
          </a:bodyPr>
          <a:lstStyle/>
          <a:p>
            <a:pPr marL="0" indent="0" algn="l">
              <a:lnSpc>
                <a:spcPct val="108000"/>
              </a:lnSpc>
              <a:buNone/>
            </a:pPr>
            <a:endParaRPr lang="en-US" sz="1700" dirty="0"/>
          </a:p>
        </p:txBody>
      </p:sp>
      <p:sp>
        <p:nvSpPr>
          <p:cNvPr id="34" name="Text 32"/>
          <p:cNvSpPr/>
          <p:nvPr/>
        </p:nvSpPr>
        <p:spPr>
          <a:xfrm>
            <a:off x="8280193" y="5245497"/>
            <a:ext cx="3301917" cy="214313"/>
          </a:xfrm>
          <a:prstGeom prst="rect">
            <a:avLst/>
          </a:prstGeom>
          <a:noFill/>
          <a:ln/>
        </p:spPr>
        <p:txBody>
          <a:bodyPr wrap="none" lIns="0" tIns="0" rIns="0" bIns="0" rtlCol="0" anchor="t"/>
          <a:lstStyle/>
          <a:p>
            <a:pPr marL="0" indent="0" algn="l">
              <a:lnSpc>
                <a:spcPct val="112000"/>
              </a:lnSpc>
              <a:buNone/>
            </a:pPr>
            <a:endParaRPr lang="en-US" sz="1250" dirty="0"/>
          </a:p>
        </p:txBody>
      </p:sp>
      <p:sp>
        <p:nvSpPr>
          <p:cNvPr id="35" name="Text 33"/>
          <p:cNvSpPr/>
          <p:nvPr/>
        </p:nvSpPr>
        <p:spPr>
          <a:xfrm>
            <a:off x="609585" y="5790009"/>
            <a:ext cx="11582110" cy="214313"/>
          </a:xfrm>
          <a:prstGeom prst="rect">
            <a:avLst/>
          </a:prstGeom>
          <a:noFill/>
          <a:ln/>
        </p:spPr>
        <p:txBody>
          <a:bodyPr wrap="none" lIns="0" tIns="0" rIns="0" bIns="0" rtlCol="0" anchor="t"/>
          <a:lstStyle/>
          <a:p>
            <a:pPr marL="0" indent="0" algn="l">
              <a:lnSpc>
                <a:spcPct val="112000"/>
              </a:lnSpc>
              <a:buNone/>
            </a:pPr>
            <a:endParaRPr lang="en-US" sz="1250" dirty="0"/>
          </a:p>
        </p:txBody>
      </p:sp>
      <p:sp>
        <p:nvSpPr>
          <p:cNvPr id="41" name="Rectangle 40">
            <a:extLst>
              <a:ext uri="{FF2B5EF4-FFF2-40B4-BE49-F238E27FC236}">
                <a16:creationId xmlns:a16="http://schemas.microsoft.com/office/drawing/2014/main" id="{E38316EF-4532-A797-D295-151D82D7EAB1}"/>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09585" y="508000"/>
            <a:ext cx="1724180"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735292" y="570805"/>
            <a:ext cx="2082351"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SYSTEM DESIGN</a:t>
            </a:r>
            <a:endParaRPr lang="en-US" sz="1300" dirty="0"/>
          </a:p>
        </p:txBody>
      </p:sp>
      <p:sp>
        <p:nvSpPr>
          <p:cNvPr id="4" name="Text 2"/>
          <p:cNvSpPr/>
          <p:nvPr/>
        </p:nvSpPr>
        <p:spPr>
          <a:xfrm>
            <a:off x="609585" y="994593"/>
            <a:ext cx="10972526" cy="403820"/>
          </a:xfrm>
          <a:prstGeom prst="rect">
            <a:avLst/>
          </a:prstGeom>
          <a:noFill/>
          <a:ln/>
        </p:spPr>
        <p:txBody>
          <a:bodyPr wrap="none" lIns="0" tIns="0" rIns="0" bIns="0" rtlCol="0" anchor="t"/>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Technical architecture</a:t>
            </a:r>
            <a:endParaRPr lang="en-US" sz="3000" dirty="0"/>
          </a:p>
        </p:txBody>
      </p:sp>
      <p:sp>
        <p:nvSpPr>
          <p:cNvPr id="5" name="Shape 3"/>
          <p:cNvSpPr/>
          <p:nvPr/>
        </p:nvSpPr>
        <p:spPr>
          <a:xfrm>
            <a:off x="609585" y="1518047"/>
            <a:ext cx="2514537" cy="2019300"/>
          </a:xfrm>
          <a:prstGeom prst="rect">
            <a:avLst/>
          </a:prstGeom>
          <a:solidFill>
            <a:srgbClr val="0E1D45"/>
          </a:solidFill>
          <a:ln/>
        </p:spPr>
        <p:txBody>
          <a:bodyPr/>
          <a:lstStyle/>
          <a:p>
            <a:endParaRPr lang="en-US"/>
          </a:p>
        </p:txBody>
      </p:sp>
      <p:sp>
        <p:nvSpPr>
          <p:cNvPr id="6" name="Text 4"/>
          <p:cNvSpPr/>
          <p:nvPr/>
        </p:nvSpPr>
        <p:spPr>
          <a:xfrm>
            <a:off x="787380" y="1721247"/>
            <a:ext cx="2336742"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C9CFE0"/>
                </a:solidFill>
                <a:latin typeface="Overpass Mono Medium" pitchFamily="34" charset="0"/>
                <a:ea typeface="Overpass Mono Medium" pitchFamily="34" charset="-122"/>
                <a:cs typeface="Overpass Mono Medium" pitchFamily="34" charset="-120"/>
              </a:rPr>
              <a:t>CLIENT LAYER</a:t>
            </a:r>
            <a:endParaRPr lang="en-US" sz="1200" dirty="0"/>
          </a:p>
        </p:txBody>
      </p:sp>
      <p:sp>
        <p:nvSpPr>
          <p:cNvPr id="7" name="Text 5"/>
          <p:cNvSpPr/>
          <p:nvPr/>
        </p:nvSpPr>
        <p:spPr>
          <a:xfrm>
            <a:off x="787380" y="204001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React 18 &amp; Vite</a:t>
            </a:r>
            <a:endParaRPr lang="en-US" sz="1700" dirty="0"/>
          </a:p>
        </p:txBody>
      </p:sp>
      <p:sp>
        <p:nvSpPr>
          <p:cNvPr id="8" name="Text 6"/>
          <p:cNvSpPr/>
          <p:nvPr/>
        </p:nvSpPr>
        <p:spPr>
          <a:xfrm>
            <a:off x="787380" y="2468563"/>
            <a:ext cx="215894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TypeScript, Tailwind CSS, and Phantom wallet adapter managing responsive frontend state.</a:t>
            </a:r>
            <a:endParaRPr lang="en-US" sz="1200" dirty="0"/>
          </a:p>
        </p:txBody>
      </p:sp>
      <p:sp>
        <p:nvSpPr>
          <p:cNvPr id="9" name="Shape 7"/>
          <p:cNvSpPr/>
          <p:nvPr/>
        </p:nvSpPr>
        <p:spPr>
          <a:xfrm>
            <a:off x="3428914" y="1518047"/>
            <a:ext cx="2514537" cy="2019300"/>
          </a:xfrm>
          <a:prstGeom prst="rect">
            <a:avLst/>
          </a:prstGeom>
          <a:solidFill>
            <a:srgbClr val="0E1D45"/>
          </a:solidFill>
          <a:ln/>
        </p:spPr>
        <p:txBody>
          <a:bodyPr/>
          <a:lstStyle/>
          <a:p>
            <a:endParaRPr lang="en-US"/>
          </a:p>
        </p:txBody>
      </p:sp>
      <p:sp>
        <p:nvSpPr>
          <p:cNvPr id="10" name="Text 8"/>
          <p:cNvSpPr/>
          <p:nvPr/>
        </p:nvSpPr>
        <p:spPr>
          <a:xfrm>
            <a:off x="3606710" y="1721247"/>
            <a:ext cx="2336742"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C9CFE0"/>
                </a:solidFill>
                <a:latin typeface="Overpass Mono Medium" pitchFamily="34" charset="0"/>
                <a:ea typeface="Overpass Mono Medium" pitchFamily="34" charset="-122"/>
                <a:cs typeface="Overpass Mono Medium" pitchFamily="34" charset="-120"/>
              </a:rPr>
              <a:t>BLOCKCHAIN</a:t>
            </a:r>
            <a:endParaRPr lang="en-US" sz="1200" dirty="0"/>
          </a:p>
        </p:txBody>
      </p:sp>
      <p:sp>
        <p:nvSpPr>
          <p:cNvPr id="11" name="Text 9"/>
          <p:cNvSpPr/>
          <p:nvPr/>
        </p:nvSpPr>
        <p:spPr>
          <a:xfrm>
            <a:off x="3606710" y="204001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Solana Devnet</a:t>
            </a:r>
            <a:endParaRPr lang="en-US" sz="1700" dirty="0"/>
          </a:p>
        </p:txBody>
      </p:sp>
      <p:sp>
        <p:nvSpPr>
          <p:cNvPr id="12" name="Text 10"/>
          <p:cNvSpPr/>
          <p:nvPr/>
        </p:nvSpPr>
        <p:spPr>
          <a:xfrm>
            <a:off x="3606710" y="2468563"/>
            <a:ext cx="215894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Solana Web3.js and SPL Token library processing immutable transfers and block confirmations.</a:t>
            </a:r>
            <a:endParaRPr lang="en-US" sz="1200" dirty="0"/>
          </a:p>
        </p:txBody>
      </p:sp>
      <p:sp>
        <p:nvSpPr>
          <p:cNvPr id="13" name="Shape 11"/>
          <p:cNvSpPr/>
          <p:nvPr/>
        </p:nvSpPr>
        <p:spPr>
          <a:xfrm>
            <a:off x="6248244" y="1518047"/>
            <a:ext cx="2514537" cy="2019300"/>
          </a:xfrm>
          <a:prstGeom prst="rect">
            <a:avLst/>
          </a:prstGeom>
          <a:solidFill>
            <a:srgbClr val="0E1D45"/>
          </a:solidFill>
          <a:ln/>
        </p:spPr>
        <p:txBody>
          <a:bodyPr/>
          <a:lstStyle/>
          <a:p>
            <a:endParaRPr lang="en-US"/>
          </a:p>
        </p:txBody>
      </p:sp>
      <p:sp>
        <p:nvSpPr>
          <p:cNvPr id="14" name="Text 12"/>
          <p:cNvSpPr/>
          <p:nvPr/>
        </p:nvSpPr>
        <p:spPr>
          <a:xfrm>
            <a:off x="6426039" y="1721247"/>
            <a:ext cx="2336742"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C9CFE0"/>
                </a:solidFill>
                <a:latin typeface="Overpass Mono Medium" pitchFamily="34" charset="0"/>
                <a:ea typeface="Overpass Mono Medium" pitchFamily="34" charset="-122"/>
                <a:cs typeface="Overpass Mono Medium" pitchFamily="34" charset="-120"/>
              </a:rPr>
              <a:t>VERIFICATION</a:t>
            </a:r>
            <a:endParaRPr lang="en-US" sz="1200" dirty="0"/>
          </a:p>
        </p:txBody>
      </p:sp>
      <p:sp>
        <p:nvSpPr>
          <p:cNvPr id="15" name="Text 13"/>
          <p:cNvSpPr/>
          <p:nvPr/>
        </p:nvSpPr>
        <p:spPr>
          <a:xfrm>
            <a:off x="6426039" y="204001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Supabase Functions</a:t>
            </a:r>
            <a:endParaRPr lang="en-US" sz="1700" dirty="0"/>
          </a:p>
        </p:txBody>
      </p:sp>
      <p:sp>
        <p:nvSpPr>
          <p:cNvPr id="16" name="Text 14"/>
          <p:cNvSpPr/>
          <p:nvPr/>
        </p:nvSpPr>
        <p:spPr>
          <a:xfrm>
            <a:off x="6426039" y="2468563"/>
            <a:ext cx="215894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Deno runtime edge functions running Zod validation and direct JSON-RPC on-chain checks.</a:t>
            </a:r>
            <a:endParaRPr lang="en-US" sz="1200" dirty="0"/>
          </a:p>
        </p:txBody>
      </p:sp>
      <p:sp>
        <p:nvSpPr>
          <p:cNvPr id="17" name="Shape 15"/>
          <p:cNvSpPr/>
          <p:nvPr/>
        </p:nvSpPr>
        <p:spPr>
          <a:xfrm>
            <a:off x="9067573" y="1518047"/>
            <a:ext cx="2514537" cy="2019300"/>
          </a:xfrm>
          <a:prstGeom prst="rect">
            <a:avLst/>
          </a:prstGeom>
          <a:solidFill>
            <a:srgbClr val="0E1D45"/>
          </a:solidFill>
          <a:ln/>
        </p:spPr>
        <p:txBody>
          <a:bodyPr/>
          <a:lstStyle/>
          <a:p>
            <a:endParaRPr lang="en-US"/>
          </a:p>
        </p:txBody>
      </p:sp>
      <p:sp>
        <p:nvSpPr>
          <p:cNvPr id="18" name="Text 16"/>
          <p:cNvSpPr/>
          <p:nvPr/>
        </p:nvSpPr>
        <p:spPr>
          <a:xfrm>
            <a:off x="9245369" y="1721247"/>
            <a:ext cx="2336742"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C9CFE0"/>
                </a:solidFill>
                <a:latin typeface="Overpass Mono Medium" pitchFamily="34" charset="0"/>
                <a:ea typeface="Overpass Mono Medium" pitchFamily="34" charset="-122"/>
                <a:cs typeface="Overpass Mono Medium" pitchFamily="34" charset="-120"/>
              </a:rPr>
              <a:t>PERSISTENCE</a:t>
            </a:r>
            <a:endParaRPr lang="en-US" sz="1200" dirty="0"/>
          </a:p>
        </p:txBody>
      </p:sp>
      <p:sp>
        <p:nvSpPr>
          <p:cNvPr id="19" name="Text 17"/>
          <p:cNvSpPr/>
          <p:nvPr/>
        </p:nvSpPr>
        <p:spPr>
          <a:xfrm>
            <a:off x="9245369" y="204001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PostgreSQL DB</a:t>
            </a:r>
            <a:endParaRPr lang="en-US" sz="1700" dirty="0"/>
          </a:p>
        </p:txBody>
      </p:sp>
      <p:sp>
        <p:nvSpPr>
          <p:cNvPr id="20" name="Text 18"/>
          <p:cNvSpPr/>
          <p:nvPr/>
        </p:nvSpPr>
        <p:spPr>
          <a:xfrm>
            <a:off x="9245369" y="2468563"/>
            <a:ext cx="2158946" cy="649188"/>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Stores verified campaign progress and indexed records for rapid query performance.</a:t>
            </a:r>
            <a:endParaRPr lang="en-US" sz="1200" dirty="0"/>
          </a:p>
        </p:txBody>
      </p:sp>
      <p:sp>
        <p:nvSpPr>
          <p:cNvPr id="21" name="Shape 19"/>
          <p:cNvSpPr/>
          <p:nvPr/>
        </p:nvSpPr>
        <p:spPr>
          <a:xfrm>
            <a:off x="609585" y="3740547"/>
            <a:ext cx="10972526" cy="840383"/>
          </a:xfrm>
          <a:prstGeom prst="rect">
            <a:avLst/>
          </a:prstGeom>
          <a:noFill/>
          <a:ln w="6350">
            <a:solidFill>
              <a:srgbClr val="2A3864"/>
            </a:solidFill>
            <a:prstDash val="solid"/>
          </a:ln>
        </p:spPr>
        <p:txBody>
          <a:bodyPr/>
          <a:lstStyle/>
          <a:p>
            <a:endParaRPr lang="en-US"/>
          </a:p>
        </p:txBody>
      </p:sp>
      <p:sp>
        <p:nvSpPr>
          <p:cNvPr id="22" name="Text 20"/>
          <p:cNvSpPr/>
          <p:nvPr/>
        </p:nvSpPr>
        <p:spPr>
          <a:xfrm>
            <a:off x="844529" y="3899297"/>
            <a:ext cx="10502637" cy="522883"/>
          </a:xfrm>
          <a:prstGeom prst="rect">
            <a:avLst/>
          </a:prstGeom>
          <a:noFill/>
          <a:ln/>
        </p:spPr>
        <p:txBody>
          <a:bodyPr wrap="square" lIns="0" tIns="0" rIns="0" bIns="0" rtlCol="0" anchor="t">
            <a:normAutofit/>
          </a:bodyPr>
          <a:lstStyle/>
          <a:p>
            <a:pPr marL="0" indent="0" algn="l">
              <a:lnSpc>
                <a:spcPct val="118000"/>
              </a:lnSpc>
              <a:buNone/>
            </a:pPr>
            <a:r>
              <a:rPr lang="en-US" sz="1450" b="1" dirty="0">
                <a:solidFill>
                  <a:srgbClr val="C9CFE0"/>
                </a:solidFill>
                <a:latin typeface="Fira Sans Bold" pitchFamily="34" charset="0"/>
                <a:ea typeface="Fira Sans Bold" pitchFamily="34" charset="-122"/>
                <a:cs typeface="Fira Sans Bold" pitchFamily="34" charset="-120"/>
              </a:rPr>
              <a:t>Data Pipeline:</a:t>
            </a:r>
            <a:r>
              <a:rPr lang="en-US" sz="1450" dirty="0">
                <a:solidFill>
                  <a:srgbClr val="C9CFE0"/>
                </a:solidFill>
                <a:latin typeface="Fira Sans" pitchFamily="34" charset="0"/>
                <a:ea typeface="Fira Sans" pitchFamily="34" charset="-122"/>
                <a:cs typeface="Fira Sans" pitchFamily="34" charset="-120"/>
              </a:rPr>
              <a:t> Donor → Web App → Phantom Wallet → Solana Devnet → Supabase Edge Function (Verification RPC) → PostgreSQL → Transparency Dashboard.</a:t>
            </a:r>
            <a:endParaRPr lang="en-US" sz="1450" dirty="0"/>
          </a:p>
        </p:txBody>
      </p:sp>
      <p:sp>
        <p:nvSpPr>
          <p:cNvPr id="24" name="Rectangle 23">
            <a:extLst>
              <a:ext uri="{FF2B5EF4-FFF2-40B4-BE49-F238E27FC236}">
                <a16:creationId xmlns:a16="http://schemas.microsoft.com/office/drawing/2014/main" id="{EB4DBA18-37A8-FC95-CF7E-DF8BE645BA53}"/>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09585" y="508000"/>
            <a:ext cx="2517117"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735292" y="570805"/>
            <a:ext cx="2875287"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SECURITY &amp; INTEGRITY</a:t>
            </a:r>
            <a:endParaRPr lang="en-US" sz="1300" dirty="0"/>
          </a:p>
        </p:txBody>
      </p:sp>
      <p:sp>
        <p:nvSpPr>
          <p:cNvPr id="4" name="Text 2"/>
          <p:cNvSpPr/>
          <p:nvPr/>
        </p:nvSpPr>
        <p:spPr>
          <a:xfrm>
            <a:off x="609585" y="994593"/>
            <a:ext cx="10972526" cy="403820"/>
          </a:xfrm>
          <a:prstGeom prst="rect">
            <a:avLst/>
          </a:prstGeom>
          <a:noFill/>
          <a:ln/>
        </p:spPr>
        <p:txBody>
          <a:bodyPr wrap="none" lIns="0" tIns="0" rIns="0" bIns="0" rtlCol="0" anchor="t"/>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Built so only verified donations count</a:t>
            </a:r>
            <a:endParaRPr lang="en-US" sz="3000" dirty="0"/>
          </a:p>
        </p:txBody>
      </p:sp>
      <p:sp>
        <p:nvSpPr>
          <p:cNvPr id="5" name="Shape 3"/>
          <p:cNvSpPr/>
          <p:nvPr/>
        </p:nvSpPr>
        <p:spPr>
          <a:xfrm>
            <a:off x="609585" y="1518047"/>
            <a:ext cx="2514537" cy="2139950"/>
          </a:xfrm>
          <a:prstGeom prst="rect">
            <a:avLst/>
          </a:prstGeom>
          <a:solidFill>
            <a:srgbClr val="0E1D45"/>
          </a:solidFill>
          <a:ln/>
        </p:spPr>
        <p:txBody>
          <a:bodyPr/>
          <a:lstStyle/>
          <a:p>
            <a:endParaRPr lang="en-US"/>
          </a:p>
        </p:txBody>
      </p:sp>
      <p:sp>
        <p:nvSpPr>
          <p:cNvPr id="6" name="Text 4"/>
          <p:cNvSpPr/>
          <p:nvPr/>
        </p:nvSpPr>
        <p:spPr>
          <a:xfrm>
            <a:off x="787380" y="1721247"/>
            <a:ext cx="821709" cy="209550"/>
          </a:xfrm>
          <a:prstGeom prst="rect">
            <a:avLst/>
          </a:prstGeom>
          <a:noFill/>
          <a:ln/>
        </p:spPr>
        <p:txBody>
          <a:bodyPr wrap="none" lIns="0" tIns="0" rIns="0" bIns="0" rtlCol="0" anchor="t"/>
          <a:lstStyle/>
          <a:p>
            <a:pPr marL="0" indent="0" algn="l">
              <a:lnSpc>
                <a:spcPct val="83000"/>
              </a:lnSpc>
              <a:buNone/>
            </a:pPr>
            <a:r>
              <a:rPr lang="en-US" sz="1650" dirty="0">
                <a:solidFill>
                  <a:srgbClr val="C9CFE0"/>
                </a:solidFill>
                <a:latin typeface="Fira Sans SemiBold" pitchFamily="34" charset="0"/>
                <a:ea typeface="Fira Sans SemiBold" pitchFamily="34" charset="-122"/>
                <a:cs typeface="Fira Sans SemiBold" pitchFamily="34" charset="-120"/>
              </a:rPr>
              <a:t>01</a:t>
            </a:r>
            <a:endParaRPr lang="en-US" sz="1650" dirty="0"/>
          </a:p>
        </p:txBody>
      </p:sp>
      <p:sp>
        <p:nvSpPr>
          <p:cNvPr id="7" name="Shape 5"/>
          <p:cNvSpPr/>
          <p:nvPr/>
        </p:nvSpPr>
        <p:spPr>
          <a:xfrm>
            <a:off x="787380" y="2014637"/>
            <a:ext cx="2158946" cy="19050"/>
          </a:xfrm>
          <a:prstGeom prst="rect">
            <a:avLst/>
          </a:prstGeom>
          <a:solidFill>
            <a:srgbClr val="00978D"/>
          </a:solidFill>
          <a:ln/>
        </p:spPr>
        <p:txBody>
          <a:bodyPr/>
          <a:lstStyle/>
          <a:p>
            <a:endParaRPr lang="en-US"/>
          </a:p>
        </p:txBody>
      </p:sp>
      <p:sp>
        <p:nvSpPr>
          <p:cNvPr id="8" name="Text 6"/>
          <p:cNvSpPr/>
          <p:nvPr/>
        </p:nvSpPr>
        <p:spPr>
          <a:xfrm>
            <a:off x="787380" y="216066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Server-Side Check</a:t>
            </a:r>
            <a:endParaRPr lang="en-US" sz="1700" dirty="0"/>
          </a:p>
        </p:txBody>
      </p:sp>
      <p:sp>
        <p:nvSpPr>
          <p:cNvPr id="9" name="Text 7"/>
          <p:cNvSpPr/>
          <p:nvPr/>
        </p:nvSpPr>
        <p:spPr>
          <a:xfrm>
            <a:off x="787380" y="2589213"/>
            <a:ext cx="215894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Verification runs strictly on Supabase Edge Functions, never trusting client-side claims.</a:t>
            </a:r>
            <a:endParaRPr lang="en-US" sz="1200" dirty="0"/>
          </a:p>
        </p:txBody>
      </p:sp>
      <p:sp>
        <p:nvSpPr>
          <p:cNvPr id="10" name="Shape 8"/>
          <p:cNvSpPr/>
          <p:nvPr/>
        </p:nvSpPr>
        <p:spPr>
          <a:xfrm>
            <a:off x="3428914" y="1518047"/>
            <a:ext cx="2514537" cy="2139950"/>
          </a:xfrm>
          <a:prstGeom prst="rect">
            <a:avLst/>
          </a:prstGeom>
          <a:solidFill>
            <a:srgbClr val="0E1D45"/>
          </a:solidFill>
          <a:ln/>
        </p:spPr>
        <p:txBody>
          <a:bodyPr/>
          <a:lstStyle/>
          <a:p>
            <a:endParaRPr lang="en-US"/>
          </a:p>
        </p:txBody>
      </p:sp>
      <p:sp>
        <p:nvSpPr>
          <p:cNvPr id="11" name="Text 9"/>
          <p:cNvSpPr/>
          <p:nvPr/>
        </p:nvSpPr>
        <p:spPr>
          <a:xfrm>
            <a:off x="3606710" y="1721247"/>
            <a:ext cx="835897" cy="209550"/>
          </a:xfrm>
          <a:prstGeom prst="rect">
            <a:avLst/>
          </a:prstGeom>
          <a:noFill/>
          <a:ln/>
        </p:spPr>
        <p:txBody>
          <a:bodyPr wrap="none" lIns="0" tIns="0" rIns="0" bIns="0" rtlCol="0" anchor="t"/>
          <a:lstStyle/>
          <a:p>
            <a:pPr marL="0" indent="0" algn="l">
              <a:lnSpc>
                <a:spcPct val="83000"/>
              </a:lnSpc>
              <a:buNone/>
            </a:pPr>
            <a:r>
              <a:rPr lang="en-US" sz="1650" dirty="0">
                <a:solidFill>
                  <a:srgbClr val="C9CFE0"/>
                </a:solidFill>
                <a:latin typeface="Fira Sans SemiBold" pitchFamily="34" charset="0"/>
                <a:ea typeface="Fira Sans SemiBold" pitchFamily="34" charset="-122"/>
                <a:cs typeface="Fira Sans SemiBold" pitchFamily="34" charset="-120"/>
              </a:rPr>
              <a:t>02</a:t>
            </a:r>
            <a:endParaRPr lang="en-US" sz="1650" dirty="0"/>
          </a:p>
        </p:txBody>
      </p:sp>
      <p:sp>
        <p:nvSpPr>
          <p:cNvPr id="12" name="Shape 10"/>
          <p:cNvSpPr/>
          <p:nvPr/>
        </p:nvSpPr>
        <p:spPr>
          <a:xfrm>
            <a:off x="3606710" y="2014637"/>
            <a:ext cx="2158946" cy="19050"/>
          </a:xfrm>
          <a:prstGeom prst="rect">
            <a:avLst/>
          </a:prstGeom>
          <a:solidFill>
            <a:srgbClr val="00978D"/>
          </a:solidFill>
          <a:ln/>
        </p:spPr>
        <p:txBody>
          <a:bodyPr/>
          <a:lstStyle/>
          <a:p>
            <a:endParaRPr lang="en-US"/>
          </a:p>
        </p:txBody>
      </p:sp>
      <p:sp>
        <p:nvSpPr>
          <p:cNvPr id="13" name="Text 11"/>
          <p:cNvSpPr/>
          <p:nvPr/>
        </p:nvSpPr>
        <p:spPr>
          <a:xfrm>
            <a:off x="3606710" y="216066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5-Point Audit</a:t>
            </a:r>
            <a:endParaRPr lang="en-US" sz="1700" dirty="0"/>
          </a:p>
        </p:txBody>
      </p:sp>
      <p:sp>
        <p:nvSpPr>
          <p:cNvPr id="14" name="Text 12"/>
          <p:cNvSpPr/>
          <p:nvPr/>
        </p:nvSpPr>
        <p:spPr>
          <a:xfrm>
            <a:off x="3606710" y="2589213"/>
            <a:ext cx="2158946" cy="649188"/>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Backend inspects status, SPL token mint, recipient address, transfer amount, and sender.</a:t>
            </a:r>
            <a:endParaRPr lang="en-US" sz="1200" dirty="0"/>
          </a:p>
        </p:txBody>
      </p:sp>
      <p:sp>
        <p:nvSpPr>
          <p:cNvPr id="15" name="Shape 13"/>
          <p:cNvSpPr/>
          <p:nvPr/>
        </p:nvSpPr>
        <p:spPr>
          <a:xfrm>
            <a:off x="6248244" y="1518047"/>
            <a:ext cx="2514537" cy="2139950"/>
          </a:xfrm>
          <a:prstGeom prst="rect">
            <a:avLst/>
          </a:prstGeom>
          <a:solidFill>
            <a:srgbClr val="0E1D45"/>
          </a:solidFill>
          <a:ln/>
        </p:spPr>
        <p:txBody>
          <a:bodyPr/>
          <a:lstStyle/>
          <a:p>
            <a:endParaRPr lang="en-US"/>
          </a:p>
        </p:txBody>
      </p:sp>
      <p:sp>
        <p:nvSpPr>
          <p:cNvPr id="16" name="Text 14"/>
          <p:cNvSpPr/>
          <p:nvPr/>
        </p:nvSpPr>
        <p:spPr>
          <a:xfrm>
            <a:off x="6426039" y="1721247"/>
            <a:ext cx="836790" cy="209550"/>
          </a:xfrm>
          <a:prstGeom prst="rect">
            <a:avLst/>
          </a:prstGeom>
          <a:noFill/>
          <a:ln/>
        </p:spPr>
        <p:txBody>
          <a:bodyPr wrap="none" lIns="0" tIns="0" rIns="0" bIns="0" rtlCol="0" anchor="t"/>
          <a:lstStyle/>
          <a:p>
            <a:pPr marL="0" indent="0" algn="l">
              <a:lnSpc>
                <a:spcPct val="83000"/>
              </a:lnSpc>
              <a:buNone/>
            </a:pPr>
            <a:r>
              <a:rPr lang="en-US" sz="1650" dirty="0">
                <a:solidFill>
                  <a:srgbClr val="C9CFE0"/>
                </a:solidFill>
                <a:latin typeface="Fira Sans SemiBold" pitchFamily="34" charset="0"/>
                <a:ea typeface="Fira Sans SemiBold" pitchFamily="34" charset="-122"/>
                <a:cs typeface="Fira Sans SemiBold" pitchFamily="34" charset="-120"/>
              </a:rPr>
              <a:t>03</a:t>
            </a:r>
            <a:endParaRPr lang="en-US" sz="1650" dirty="0"/>
          </a:p>
        </p:txBody>
      </p:sp>
      <p:sp>
        <p:nvSpPr>
          <p:cNvPr id="17" name="Shape 15"/>
          <p:cNvSpPr/>
          <p:nvPr/>
        </p:nvSpPr>
        <p:spPr>
          <a:xfrm>
            <a:off x="6426039" y="2014637"/>
            <a:ext cx="2158946" cy="19050"/>
          </a:xfrm>
          <a:prstGeom prst="rect">
            <a:avLst/>
          </a:prstGeom>
          <a:solidFill>
            <a:srgbClr val="00978D"/>
          </a:solidFill>
          <a:ln/>
        </p:spPr>
        <p:txBody>
          <a:bodyPr/>
          <a:lstStyle/>
          <a:p>
            <a:endParaRPr lang="en-US"/>
          </a:p>
        </p:txBody>
      </p:sp>
      <p:sp>
        <p:nvSpPr>
          <p:cNvPr id="18" name="Text 16"/>
          <p:cNvSpPr/>
          <p:nvPr/>
        </p:nvSpPr>
        <p:spPr>
          <a:xfrm>
            <a:off x="6426039" y="216066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Replay Prevention</a:t>
            </a:r>
            <a:endParaRPr lang="en-US" sz="1700" dirty="0"/>
          </a:p>
        </p:txBody>
      </p:sp>
      <p:sp>
        <p:nvSpPr>
          <p:cNvPr id="19" name="Text 17"/>
          <p:cNvSpPr/>
          <p:nvPr/>
        </p:nvSpPr>
        <p:spPr>
          <a:xfrm>
            <a:off x="6426039" y="2589213"/>
            <a:ext cx="215894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Database enforces unique transaction signatures so no hash can ever be recorded twice.</a:t>
            </a:r>
            <a:endParaRPr lang="en-US" sz="1200" dirty="0"/>
          </a:p>
        </p:txBody>
      </p:sp>
      <p:sp>
        <p:nvSpPr>
          <p:cNvPr id="20" name="Shape 18"/>
          <p:cNvSpPr/>
          <p:nvPr/>
        </p:nvSpPr>
        <p:spPr>
          <a:xfrm>
            <a:off x="9067573" y="1518047"/>
            <a:ext cx="2514537" cy="2139950"/>
          </a:xfrm>
          <a:prstGeom prst="rect">
            <a:avLst/>
          </a:prstGeom>
          <a:solidFill>
            <a:srgbClr val="0E1D45"/>
          </a:solidFill>
          <a:ln/>
        </p:spPr>
        <p:txBody>
          <a:bodyPr/>
          <a:lstStyle/>
          <a:p>
            <a:endParaRPr lang="en-US"/>
          </a:p>
        </p:txBody>
      </p:sp>
      <p:sp>
        <p:nvSpPr>
          <p:cNvPr id="21" name="Text 19"/>
          <p:cNvSpPr/>
          <p:nvPr/>
        </p:nvSpPr>
        <p:spPr>
          <a:xfrm>
            <a:off x="9245369" y="1721247"/>
            <a:ext cx="847704" cy="209550"/>
          </a:xfrm>
          <a:prstGeom prst="rect">
            <a:avLst/>
          </a:prstGeom>
          <a:noFill/>
          <a:ln/>
        </p:spPr>
        <p:txBody>
          <a:bodyPr wrap="none" lIns="0" tIns="0" rIns="0" bIns="0" rtlCol="0" anchor="t"/>
          <a:lstStyle/>
          <a:p>
            <a:pPr marL="0" indent="0" algn="l">
              <a:lnSpc>
                <a:spcPct val="83000"/>
              </a:lnSpc>
              <a:buNone/>
            </a:pPr>
            <a:r>
              <a:rPr lang="en-US" sz="1650" dirty="0">
                <a:solidFill>
                  <a:srgbClr val="C9CFE0"/>
                </a:solidFill>
                <a:latin typeface="Fira Sans SemiBold" pitchFamily="34" charset="0"/>
                <a:ea typeface="Fira Sans SemiBold" pitchFamily="34" charset="-122"/>
                <a:cs typeface="Fira Sans SemiBold" pitchFamily="34" charset="-120"/>
              </a:rPr>
              <a:t>04</a:t>
            </a:r>
            <a:endParaRPr lang="en-US" sz="1650" dirty="0"/>
          </a:p>
        </p:txBody>
      </p:sp>
      <p:sp>
        <p:nvSpPr>
          <p:cNvPr id="22" name="Shape 20"/>
          <p:cNvSpPr/>
          <p:nvPr/>
        </p:nvSpPr>
        <p:spPr>
          <a:xfrm>
            <a:off x="9245369" y="2014637"/>
            <a:ext cx="2158946" cy="19050"/>
          </a:xfrm>
          <a:prstGeom prst="rect">
            <a:avLst/>
          </a:prstGeom>
          <a:solidFill>
            <a:srgbClr val="00978D"/>
          </a:solidFill>
          <a:ln/>
        </p:spPr>
        <p:txBody>
          <a:bodyPr/>
          <a:lstStyle/>
          <a:p>
            <a:endParaRPr lang="en-US"/>
          </a:p>
        </p:txBody>
      </p:sp>
      <p:sp>
        <p:nvSpPr>
          <p:cNvPr id="23" name="Text 21"/>
          <p:cNvSpPr/>
          <p:nvPr/>
        </p:nvSpPr>
        <p:spPr>
          <a:xfrm>
            <a:off x="9245369" y="2160667"/>
            <a:ext cx="2158946"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Public Explorer</a:t>
            </a:r>
            <a:endParaRPr lang="en-US" sz="1700" dirty="0"/>
          </a:p>
        </p:txBody>
      </p:sp>
      <p:sp>
        <p:nvSpPr>
          <p:cNvPr id="24" name="Text 22"/>
          <p:cNvSpPr/>
          <p:nvPr/>
        </p:nvSpPr>
        <p:spPr>
          <a:xfrm>
            <a:off x="9245369" y="2589213"/>
            <a:ext cx="2158946" cy="865584"/>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C9CFE0"/>
                </a:solidFill>
                <a:latin typeface="Fira Sans" pitchFamily="34" charset="0"/>
                <a:ea typeface="Fira Sans" pitchFamily="34" charset="-122"/>
                <a:cs typeface="Fira Sans" pitchFamily="34" charset="-120"/>
              </a:rPr>
              <a:t>Every stored transaction links to Solana Explorer for universal third-party auditability.</a:t>
            </a:r>
            <a:endParaRPr lang="en-US" sz="1200" dirty="0"/>
          </a:p>
        </p:txBody>
      </p:sp>
      <p:sp>
        <p:nvSpPr>
          <p:cNvPr id="25" name="Text 23"/>
          <p:cNvSpPr/>
          <p:nvPr/>
        </p:nvSpPr>
        <p:spPr>
          <a:xfrm>
            <a:off x="609585" y="3861197"/>
            <a:ext cx="10972526" cy="428625"/>
          </a:xfrm>
          <a:prstGeom prst="rect">
            <a:avLst/>
          </a:prstGeom>
          <a:noFill/>
          <a:ln/>
        </p:spPr>
        <p:txBody>
          <a:bodyPr wrap="square" lIns="0" tIns="0" rIns="0" bIns="0" rtlCol="0" anchor="t">
            <a:normAutofit/>
          </a:bodyPr>
          <a:lstStyle/>
          <a:p>
            <a:pPr marL="0" indent="0" algn="l">
              <a:lnSpc>
                <a:spcPct val="112000"/>
              </a:lnSpc>
              <a:buNone/>
            </a:pPr>
            <a:r>
              <a:rPr lang="en-US" sz="1250" kern="100" spc="37" dirty="0">
                <a:solidFill>
                  <a:srgbClr val="A9B1CA"/>
                </a:solidFill>
                <a:latin typeface="Overpass Mono" pitchFamily="34" charset="0"/>
                <a:ea typeface="Overpass Mono" pitchFamily="34" charset="-122"/>
                <a:cs typeface="Overpass Mono" pitchFamily="34" charset="-120"/>
              </a:rPr>
              <a:t>Security Note: Hackathon prototype developed for educational demonstration; no external security audit has been performed.</a:t>
            </a:r>
            <a:endParaRPr lang="en-US" sz="1250" dirty="0"/>
          </a:p>
        </p:txBody>
      </p:sp>
      <p:sp>
        <p:nvSpPr>
          <p:cNvPr id="27" name="Rectangle 26">
            <a:extLst>
              <a:ext uri="{FF2B5EF4-FFF2-40B4-BE49-F238E27FC236}">
                <a16:creationId xmlns:a16="http://schemas.microsoft.com/office/drawing/2014/main" id="{7BB93495-D39D-C9DF-996A-D784B805FED1}"/>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09585" y="508000"/>
            <a:ext cx="2290606"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735292" y="570805"/>
            <a:ext cx="2648777"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POTENTIAL AUDIENCE</a:t>
            </a:r>
            <a:endParaRPr lang="en-US" sz="1300" dirty="0"/>
          </a:p>
        </p:txBody>
      </p:sp>
      <p:sp>
        <p:nvSpPr>
          <p:cNvPr id="4" name="Text 2"/>
          <p:cNvSpPr/>
          <p:nvPr/>
        </p:nvSpPr>
        <p:spPr>
          <a:xfrm>
            <a:off x="609585" y="994593"/>
            <a:ext cx="10972526" cy="403820"/>
          </a:xfrm>
          <a:prstGeom prst="rect">
            <a:avLst/>
          </a:prstGeom>
          <a:noFill/>
          <a:ln/>
        </p:spPr>
        <p:txBody>
          <a:bodyPr wrap="none" lIns="0" tIns="0" rIns="0" bIns="0" rtlCol="0" anchor="t"/>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Who ReliefChain could serve</a:t>
            </a:r>
            <a:endParaRPr lang="en-US" sz="3000" dirty="0"/>
          </a:p>
        </p:txBody>
      </p:sp>
      <p:sp>
        <p:nvSpPr>
          <p:cNvPr id="5" name="Shape 3"/>
          <p:cNvSpPr/>
          <p:nvPr/>
        </p:nvSpPr>
        <p:spPr>
          <a:xfrm>
            <a:off x="609585" y="1518047"/>
            <a:ext cx="3454314" cy="967581"/>
          </a:xfrm>
          <a:prstGeom prst="rect">
            <a:avLst/>
          </a:prstGeom>
          <a:solidFill>
            <a:srgbClr val="0E1D45"/>
          </a:solidFill>
          <a:ln/>
        </p:spPr>
        <p:txBody>
          <a:bodyPr/>
          <a:lstStyle/>
          <a:p>
            <a:endParaRPr lang="en-US"/>
          </a:p>
        </p:txBody>
      </p:sp>
      <p:sp>
        <p:nvSpPr>
          <p:cNvPr id="6" name="Text 4"/>
          <p:cNvSpPr/>
          <p:nvPr/>
        </p:nvSpPr>
        <p:spPr>
          <a:xfrm>
            <a:off x="838179" y="1722517"/>
            <a:ext cx="2997125"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Individual donors</a:t>
            </a:r>
            <a:endParaRPr lang="en-US" sz="1700" dirty="0"/>
          </a:p>
        </p:txBody>
      </p:sp>
      <p:sp>
        <p:nvSpPr>
          <p:cNvPr id="7" name="Shape 5"/>
          <p:cNvSpPr/>
          <p:nvPr/>
        </p:nvSpPr>
        <p:spPr>
          <a:xfrm>
            <a:off x="4368691" y="1518047"/>
            <a:ext cx="3454314" cy="967581"/>
          </a:xfrm>
          <a:prstGeom prst="rect">
            <a:avLst/>
          </a:prstGeom>
          <a:solidFill>
            <a:srgbClr val="0E1D45"/>
          </a:solidFill>
          <a:ln/>
        </p:spPr>
        <p:txBody>
          <a:bodyPr/>
          <a:lstStyle/>
          <a:p>
            <a:endParaRPr lang="en-US"/>
          </a:p>
        </p:txBody>
      </p:sp>
      <p:sp>
        <p:nvSpPr>
          <p:cNvPr id="8" name="Text 6"/>
          <p:cNvSpPr/>
          <p:nvPr/>
        </p:nvSpPr>
        <p:spPr>
          <a:xfrm>
            <a:off x="4597285" y="1722517"/>
            <a:ext cx="2997125" cy="561181"/>
          </a:xfrm>
          <a:prstGeom prst="rect">
            <a:avLst/>
          </a:prstGeom>
          <a:noFill/>
          <a:ln/>
        </p:spPr>
        <p:txBody>
          <a:bodyPr wrap="square" lIns="0" tIns="0" rIns="0" bIns="0" rtlCol="0" anchor="t">
            <a:normAutofit/>
          </a:bodyPr>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Community-led fundraising campaigns</a:t>
            </a:r>
            <a:endParaRPr lang="en-US" sz="1700" dirty="0"/>
          </a:p>
        </p:txBody>
      </p:sp>
      <p:sp>
        <p:nvSpPr>
          <p:cNvPr id="9" name="Shape 7"/>
          <p:cNvSpPr/>
          <p:nvPr/>
        </p:nvSpPr>
        <p:spPr>
          <a:xfrm>
            <a:off x="8127797" y="1518047"/>
            <a:ext cx="3454314" cy="967581"/>
          </a:xfrm>
          <a:prstGeom prst="rect">
            <a:avLst/>
          </a:prstGeom>
          <a:solidFill>
            <a:srgbClr val="0E1D45"/>
          </a:solidFill>
          <a:ln/>
        </p:spPr>
        <p:txBody>
          <a:bodyPr/>
          <a:lstStyle/>
          <a:p>
            <a:endParaRPr lang="en-US"/>
          </a:p>
        </p:txBody>
      </p:sp>
      <p:sp>
        <p:nvSpPr>
          <p:cNvPr id="10" name="Text 8"/>
          <p:cNvSpPr/>
          <p:nvPr/>
        </p:nvSpPr>
        <p:spPr>
          <a:xfrm>
            <a:off x="8356391" y="1722517"/>
            <a:ext cx="2997125"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Humanitarian relief organizers</a:t>
            </a:r>
            <a:endParaRPr lang="en-US" sz="1700" dirty="0"/>
          </a:p>
        </p:txBody>
      </p:sp>
      <p:sp>
        <p:nvSpPr>
          <p:cNvPr id="11" name="Shape 9"/>
          <p:cNvSpPr/>
          <p:nvPr/>
        </p:nvSpPr>
        <p:spPr>
          <a:xfrm>
            <a:off x="609585" y="2638028"/>
            <a:ext cx="5333867" cy="686991"/>
          </a:xfrm>
          <a:prstGeom prst="rect">
            <a:avLst/>
          </a:prstGeom>
          <a:solidFill>
            <a:srgbClr val="0E1D45"/>
          </a:solidFill>
          <a:ln/>
        </p:spPr>
        <p:txBody>
          <a:bodyPr/>
          <a:lstStyle/>
          <a:p>
            <a:endParaRPr lang="en-US"/>
          </a:p>
        </p:txBody>
      </p:sp>
      <p:sp>
        <p:nvSpPr>
          <p:cNvPr id="12" name="Text 10"/>
          <p:cNvSpPr/>
          <p:nvPr/>
        </p:nvSpPr>
        <p:spPr>
          <a:xfrm>
            <a:off x="838179" y="2842498"/>
            <a:ext cx="4876678"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Nonprofit organizations</a:t>
            </a:r>
            <a:endParaRPr lang="en-US" sz="1700" dirty="0"/>
          </a:p>
        </p:txBody>
      </p:sp>
      <p:sp>
        <p:nvSpPr>
          <p:cNvPr id="13" name="Shape 11"/>
          <p:cNvSpPr/>
          <p:nvPr/>
        </p:nvSpPr>
        <p:spPr>
          <a:xfrm>
            <a:off x="6248244" y="2638028"/>
            <a:ext cx="5333867" cy="686991"/>
          </a:xfrm>
          <a:prstGeom prst="rect">
            <a:avLst/>
          </a:prstGeom>
          <a:solidFill>
            <a:srgbClr val="0E1D45"/>
          </a:solidFill>
          <a:ln/>
        </p:spPr>
        <p:txBody>
          <a:bodyPr/>
          <a:lstStyle/>
          <a:p>
            <a:endParaRPr lang="en-US"/>
          </a:p>
        </p:txBody>
      </p:sp>
      <p:sp>
        <p:nvSpPr>
          <p:cNvPr id="14" name="Text 12"/>
          <p:cNvSpPr/>
          <p:nvPr/>
        </p:nvSpPr>
        <p:spPr>
          <a:xfrm>
            <a:off x="6476838" y="2842498"/>
            <a:ext cx="4876678" cy="280591"/>
          </a:xfrm>
          <a:prstGeom prst="rect">
            <a:avLst/>
          </a:prstGeom>
          <a:noFill/>
          <a:ln/>
        </p:spPr>
        <p:txBody>
          <a:bodyPr wrap="none" lIns="0" tIns="0" rIns="0" bIns="0" rtlCol="0" anchor="t"/>
          <a:lstStyle/>
          <a:p>
            <a:pPr marL="0" indent="0" algn="l">
              <a:lnSpc>
                <a:spcPct val="108000"/>
              </a:lnSpc>
              <a:buNone/>
            </a:pPr>
            <a:r>
              <a:rPr lang="en-US" sz="1700" dirty="0">
                <a:solidFill>
                  <a:srgbClr val="C9CFE0"/>
                </a:solidFill>
                <a:latin typeface="Fira Sans" pitchFamily="34" charset="0"/>
                <a:ea typeface="Fira Sans" pitchFamily="34" charset="-122"/>
                <a:cs typeface="Fira Sans" pitchFamily="34" charset="-120"/>
              </a:rPr>
              <a:t>Donors who want verifiable transaction records</a:t>
            </a:r>
            <a:endParaRPr lang="en-US" sz="1700" dirty="0"/>
          </a:p>
        </p:txBody>
      </p:sp>
      <p:sp>
        <p:nvSpPr>
          <p:cNvPr id="15" name="Shape 13"/>
          <p:cNvSpPr/>
          <p:nvPr/>
        </p:nvSpPr>
        <p:spPr>
          <a:xfrm>
            <a:off x="609585" y="3477419"/>
            <a:ext cx="10972526" cy="899914"/>
          </a:xfrm>
          <a:prstGeom prst="rect">
            <a:avLst/>
          </a:prstGeom>
          <a:solidFill>
            <a:srgbClr val="051230"/>
          </a:solidFill>
          <a:ln/>
        </p:spPr>
        <p:txBody>
          <a:bodyPr/>
          <a:lstStyle/>
          <a:p>
            <a:endParaRPr lang="en-US"/>
          </a:p>
        </p:txBody>
      </p:sp>
      <p:sp>
        <p:nvSpPr>
          <p:cNvPr id="16" name="Text 14"/>
          <p:cNvSpPr/>
          <p:nvPr/>
        </p:nvSpPr>
        <p:spPr>
          <a:xfrm>
            <a:off x="812780" y="3629819"/>
            <a:ext cx="10566136" cy="595114"/>
          </a:xfrm>
          <a:prstGeom prst="rect">
            <a:avLst/>
          </a:prstGeom>
          <a:noFill/>
          <a:ln/>
        </p:spPr>
        <p:txBody>
          <a:bodyPr wrap="square" lIns="0" tIns="0" rIns="0" bIns="0" rtlCol="0" anchor="t">
            <a:normAutofit/>
          </a:bodyPr>
          <a:lstStyle/>
          <a:p>
            <a:pPr marL="0" indent="0" algn="ctr">
              <a:lnSpc>
                <a:spcPct val="118000"/>
              </a:lnSpc>
              <a:buNone/>
            </a:pPr>
            <a:r>
              <a:rPr lang="en-US" sz="1650" dirty="0">
                <a:solidFill>
                  <a:srgbClr val="FFFFFF"/>
                </a:solidFill>
                <a:latin typeface="Fira Sans" pitchFamily="34" charset="0"/>
                <a:ea typeface="Fira Sans" pitchFamily="34" charset="-122"/>
                <a:cs typeface="Fira Sans" pitchFamily="34" charset="-120"/>
              </a:rPr>
              <a:t>Accessible evidence could improve transparency and donor confidence. Potential only: no user counts, partners or outcomes claimed.</a:t>
            </a:r>
            <a:endParaRPr lang="en-US" sz="1650" dirty="0"/>
          </a:p>
        </p:txBody>
      </p:sp>
      <p:sp>
        <p:nvSpPr>
          <p:cNvPr id="18" name="Rectangle 17">
            <a:extLst>
              <a:ext uri="{FF2B5EF4-FFF2-40B4-BE49-F238E27FC236}">
                <a16:creationId xmlns:a16="http://schemas.microsoft.com/office/drawing/2014/main" id="{EB531289-3886-0A31-6304-F290CB7BB6C5}"/>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1981" y="558800"/>
            <a:ext cx="2857032"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887688" y="621605"/>
            <a:ext cx="3215202"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ROADMAP &amp; FUTURE VISION</a:t>
            </a:r>
            <a:endParaRPr lang="en-US" sz="1300" dirty="0"/>
          </a:p>
        </p:txBody>
      </p:sp>
      <p:sp>
        <p:nvSpPr>
          <p:cNvPr id="4" name="Text 2"/>
          <p:cNvSpPr/>
          <p:nvPr/>
        </p:nvSpPr>
        <p:spPr>
          <a:xfrm>
            <a:off x="761981" y="1070891"/>
            <a:ext cx="10667733" cy="569913"/>
          </a:xfrm>
          <a:prstGeom prst="rect">
            <a:avLst/>
          </a:prstGeom>
          <a:noFill/>
          <a:ln/>
        </p:spPr>
        <p:txBody>
          <a:bodyPr wrap="none" lIns="0" tIns="0" rIns="0" bIns="0" rtlCol="0" anchor="t"/>
          <a:lstStyle/>
          <a:p>
            <a:pPr marL="0" indent="0" algn="l">
              <a:lnSpc>
                <a:spcPct val="85000"/>
              </a:lnSpc>
              <a:buNone/>
            </a:pPr>
            <a:r>
              <a:rPr lang="en-US" sz="4400" kern="100" spc="-44" dirty="0">
                <a:solidFill>
                  <a:srgbClr val="FFFFFF"/>
                </a:solidFill>
                <a:latin typeface="Encode Sans Semi Condensed SemiBold" pitchFamily="34" charset="0"/>
                <a:ea typeface="Encode Sans Semi Condensed SemiBold" pitchFamily="34" charset="-122"/>
                <a:cs typeface="Encode Sans Semi Condensed SemiBold" pitchFamily="34" charset="-120"/>
              </a:rPr>
              <a:t>Growth opportunities, still ahead</a:t>
            </a:r>
            <a:endParaRPr lang="en-US" sz="4400" dirty="0"/>
          </a:p>
        </p:txBody>
      </p:sp>
      <p:sp>
        <p:nvSpPr>
          <p:cNvPr id="5" name="Shape 3"/>
          <p:cNvSpPr/>
          <p:nvPr/>
        </p:nvSpPr>
        <p:spPr>
          <a:xfrm>
            <a:off x="761981" y="1760339"/>
            <a:ext cx="3403515" cy="967581"/>
          </a:xfrm>
          <a:prstGeom prst="rect">
            <a:avLst/>
          </a:prstGeom>
          <a:solidFill>
            <a:srgbClr val="0E1D45"/>
          </a:solidFill>
          <a:ln/>
        </p:spPr>
        <p:txBody>
          <a:bodyPr/>
          <a:lstStyle/>
          <a:p>
            <a:endParaRPr lang="en-US"/>
          </a:p>
        </p:txBody>
      </p:sp>
      <p:sp>
        <p:nvSpPr>
          <p:cNvPr id="6" name="Text 4"/>
          <p:cNvSpPr/>
          <p:nvPr/>
        </p:nvSpPr>
        <p:spPr>
          <a:xfrm>
            <a:off x="965176" y="1964809"/>
            <a:ext cx="2997125" cy="561181"/>
          </a:xfrm>
          <a:prstGeom prst="rect">
            <a:avLst/>
          </a:prstGeom>
          <a:noFill/>
          <a:ln/>
        </p:spPr>
        <p:txBody>
          <a:bodyPr wrap="square" lIns="0" tIns="0" rIns="0" bIns="0" rtlCol="0" anchor="t">
            <a:normAutofit/>
          </a:bodyPr>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Campaign management tools for organizations</a:t>
            </a:r>
            <a:endParaRPr lang="en-US" sz="1700" dirty="0"/>
          </a:p>
        </p:txBody>
      </p:sp>
      <p:sp>
        <p:nvSpPr>
          <p:cNvPr id="7" name="Shape 5"/>
          <p:cNvSpPr/>
          <p:nvPr/>
        </p:nvSpPr>
        <p:spPr>
          <a:xfrm>
            <a:off x="4470288" y="1760339"/>
            <a:ext cx="3251119" cy="967581"/>
          </a:xfrm>
          <a:prstGeom prst="rect">
            <a:avLst/>
          </a:prstGeom>
          <a:solidFill>
            <a:srgbClr val="0E1D45"/>
          </a:solidFill>
          <a:ln/>
        </p:spPr>
        <p:txBody>
          <a:bodyPr/>
          <a:lstStyle/>
          <a:p>
            <a:endParaRPr lang="en-US"/>
          </a:p>
        </p:txBody>
      </p:sp>
      <p:sp>
        <p:nvSpPr>
          <p:cNvPr id="8" name="Text 6"/>
          <p:cNvSpPr/>
          <p:nvPr/>
        </p:nvSpPr>
        <p:spPr>
          <a:xfrm>
            <a:off x="4673483" y="1964809"/>
            <a:ext cx="2844729" cy="561181"/>
          </a:xfrm>
          <a:prstGeom prst="rect">
            <a:avLst/>
          </a:prstGeom>
          <a:noFill/>
          <a:ln/>
        </p:spPr>
        <p:txBody>
          <a:bodyPr wrap="square" lIns="0" tIns="0" rIns="0" bIns="0" rtlCol="0" anchor="t">
            <a:normAutofit/>
          </a:bodyPr>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Optional analytics and reporting services</a:t>
            </a:r>
            <a:endParaRPr lang="en-US" sz="1700" dirty="0"/>
          </a:p>
        </p:txBody>
      </p:sp>
      <p:sp>
        <p:nvSpPr>
          <p:cNvPr id="9" name="Shape 7"/>
          <p:cNvSpPr/>
          <p:nvPr/>
        </p:nvSpPr>
        <p:spPr>
          <a:xfrm>
            <a:off x="8026199" y="1760339"/>
            <a:ext cx="3403515" cy="967581"/>
          </a:xfrm>
          <a:prstGeom prst="rect">
            <a:avLst/>
          </a:prstGeom>
          <a:solidFill>
            <a:srgbClr val="0E1D45"/>
          </a:solidFill>
          <a:ln/>
        </p:spPr>
        <p:txBody>
          <a:bodyPr/>
          <a:lstStyle/>
          <a:p>
            <a:endParaRPr lang="en-US"/>
          </a:p>
        </p:txBody>
      </p:sp>
      <p:sp>
        <p:nvSpPr>
          <p:cNvPr id="10" name="Text 8"/>
          <p:cNvSpPr/>
          <p:nvPr/>
        </p:nvSpPr>
        <p:spPr>
          <a:xfrm>
            <a:off x="8229394" y="1964809"/>
            <a:ext cx="2997125" cy="561181"/>
          </a:xfrm>
          <a:prstGeom prst="rect">
            <a:avLst/>
          </a:prstGeom>
          <a:noFill/>
          <a:ln/>
        </p:spPr>
        <p:txBody>
          <a:bodyPr wrap="square" lIns="0" tIns="0" rIns="0" bIns="0" rtlCol="0" anchor="t">
            <a:normAutofit/>
          </a:bodyPr>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Partnerships with established relief organizations</a:t>
            </a:r>
            <a:endParaRPr lang="en-US" sz="1700" dirty="0"/>
          </a:p>
        </p:txBody>
      </p:sp>
      <p:sp>
        <p:nvSpPr>
          <p:cNvPr id="11" name="Shape 9"/>
          <p:cNvSpPr/>
          <p:nvPr/>
        </p:nvSpPr>
        <p:spPr>
          <a:xfrm>
            <a:off x="761981" y="3032720"/>
            <a:ext cx="3403515" cy="1248172"/>
          </a:xfrm>
          <a:prstGeom prst="rect">
            <a:avLst/>
          </a:prstGeom>
          <a:solidFill>
            <a:srgbClr val="0E1D45"/>
          </a:solidFill>
          <a:ln/>
        </p:spPr>
        <p:txBody>
          <a:bodyPr/>
          <a:lstStyle/>
          <a:p>
            <a:endParaRPr lang="en-US"/>
          </a:p>
        </p:txBody>
      </p:sp>
      <p:sp>
        <p:nvSpPr>
          <p:cNvPr id="12" name="Text 10"/>
          <p:cNvSpPr/>
          <p:nvPr/>
        </p:nvSpPr>
        <p:spPr>
          <a:xfrm>
            <a:off x="965176" y="3237190"/>
            <a:ext cx="2997125" cy="561181"/>
          </a:xfrm>
          <a:prstGeom prst="rect">
            <a:avLst/>
          </a:prstGeom>
          <a:noFill/>
          <a:ln/>
        </p:spPr>
        <p:txBody>
          <a:bodyPr wrap="square" lIns="0" tIns="0" rIns="0" bIns="0" rtlCol="0" anchor="t">
            <a:normAutofit/>
          </a:bodyPr>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Solana Mainnet after testing and security review</a:t>
            </a:r>
            <a:endParaRPr lang="en-US" sz="1700" dirty="0"/>
          </a:p>
        </p:txBody>
      </p:sp>
      <p:sp>
        <p:nvSpPr>
          <p:cNvPr id="13" name="Shape 11"/>
          <p:cNvSpPr/>
          <p:nvPr/>
        </p:nvSpPr>
        <p:spPr>
          <a:xfrm>
            <a:off x="4470288" y="3032720"/>
            <a:ext cx="3251119" cy="1248172"/>
          </a:xfrm>
          <a:prstGeom prst="rect">
            <a:avLst/>
          </a:prstGeom>
          <a:solidFill>
            <a:srgbClr val="0E1D45"/>
          </a:solidFill>
          <a:ln/>
        </p:spPr>
        <p:txBody>
          <a:bodyPr/>
          <a:lstStyle/>
          <a:p>
            <a:endParaRPr lang="en-US"/>
          </a:p>
        </p:txBody>
      </p:sp>
      <p:sp>
        <p:nvSpPr>
          <p:cNvPr id="14" name="Text 12"/>
          <p:cNvSpPr/>
          <p:nvPr/>
        </p:nvSpPr>
        <p:spPr>
          <a:xfrm>
            <a:off x="4673483" y="3237190"/>
            <a:ext cx="2844729" cy="561181"/>
          </a:xfrm>
          <a:prstGeom prst="rect">
            <a:avLst/>
          </a:prstGeom>
          <a:noFill/>
          <a:ln/>
        </p:spPr>
        <p:txBody>
          <a:bodyPr wrap="square" lIns="0" tIns="0" rIns="0" bIns="0" rtlCol="0" anchor="t">
            <a:normAutofit/>
          </a:bodyPr>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More token and wallet options</a:t>
            </a:r>
            <a:endParaRPr lang="en-US" sz="1700" dirty="0"/>
          </a:p>
        </p:txBody>
      </p:sp>
      <p:sp>
        <p:nvSpPr>
          <p:cNvPr id="15" name="Shape 13"/>
          <p:cNvSpPr/>
          <p:nvPr/>
        </p:nvSpPr>
        <p:spPr>
          <a:xfrm>
            <a:off x="8026199" y="3032720"/>
            <a:ext cx="3403515" cy="1248172"/>
          </a:xfrm>
          <a:prstGeom prst="rect">
            <a:avLst/>
          </a:prstGeom>
          <a:solidFill>
            <a:srgbClr val="0E1D45"/>
          </a:solidFill>
          <a:ln/>
        </p:spPr>
        <p:txBody>
          <a:bodyPr/>
          <a:lstStyle/>
          <a:p>
            <a:endParaRPr lang="en-US"/>
          </a:p>
        </p:txBody>
      </p:sp>
      <p:sp>
        <p:nvSpPr>
          <p:cNvPr id="16" name="Text 14"/>
          <p:cNvSpPr/>
          <p:nvPr/>
        </p:nvSpPr>
        <p:spPr>
          <a:xfrm>
            <a:off x="8229394" y="3237190"/>
            <a:ext cx="2997125" cy="841772"/>
          </a:xfrm>
          <a:prstGeom prst="rect">
            <a:avLst/>
          </a:prstGeom>
          <a:noFill/>
          <a:ln/>
        </p:spPr>
        <p:txBody>
          <a:bodyPr wrap="square" lIns="0" tIns="0" rIns="0" bIns="0" rtlCol="0" anchor="t">
            <a:normAutofit/>
          </a:bodyPr>
          <a:lstStyle/>
          <a:p>
            <a:pPr marL="0" indent="0" algn="l">
              <a:lnSpc>
                <a:spcPct val="108000"/>
              </a:lnSpc>
              <a:buNone/>
            </a:pPr>
            <a:r>
              <a:rPr lang="en-US" sz="1700" dirty="0">
                <a:solidFill>
                  <a:srgbClr val="FFFFFF"/>
                </a:solidFill>
                <a:latin typeface="Fira Sans" pitchFamily="34" charset="0"/>
                <a:ea typeface="Fira Sans" pitchFamily="34" charset="-122"/>
                <a:cs typeface="Fira Sans" pitchFamily="34" charset="-120"/>
              </a:rPr>
              <a:t>Real-world donation channels, subject to technical and regulatory requirements</a:t>
            </a:r>
            <a:endParaRPr lang="en-US" sz="1700" dirty="0"/>
          </a:p>
        </p:txBody>
      </p:sp>
      <p:sp>
        <p:nvSpPr>
          <p:cNvPr id="17" name="Text 15"/>
          <p:cNvSpPr/>
          <p:nvPr/>
        </p:nvSpPr>
        <p:spPr>
          <a:xfrm>
            <a:off x="761981" y="4433292"/>
            <a:ext cx="11277318" cy="214313"/>
          </a:xfrm>
          <a:prstGeom prst="rect">
            <a:avLst/>
          </a:prstGeom>
          <a:noFill/>
          <a:ln/>
        </p:spPr>
        <p:txBody>
          <a:bodyPr wrap="none" lIns="0" tIns="0" rIns="0" bIns="0" rtlCol="0" anchor="t"/>
          <a:lstStyle/>
          <a:p>
            <a:pPr marL="0" indent="0" algn="l">
              <a:lnSpc>
                <a:spcPct val="112000"/>
              </a:lnSpc>
              <a:buNone/>
            </a:pPr>
            <a:r>
              <a:rPr lang="en-US" sz="1250" kern="100" spc="37" dirty="0">
                <a:solidFill>
                  <a:srgbClr val="AFB3BD"/>
                </a:solidFill>
                <a:latin typeface="Overpass Mono" pitchFamily="34" charset="0"/>
                <a:ea typeface="Overpass Mono" pitchFamily="34" charset="-122"/>
                <a:cs typeface="Overpass Mono" pitchFamily="34" charset="-120"/>
              </a:rPr>
              <a:t>Future possibilities, not features. Mission stays central.</a:t>
            </a:r>
            <a:endParaRPr lang="en-US" sz="1250" dirty="0"/>
          </a:p>
        </p:txBody>
      </p:sp>
      <p:sp>
        <p:nvSpPr>
          <p:cNvPr id="19" name="Rectangle 18">
            <a:extLst>
              <a:ext uri="{FF2B5EF4-FFF2-40B4-BE49-F238E27FC236}">
                <a16:creationId xmlns:a16="http://schemas.microsoft.com/office/drawing/2014/main" id="{ADE39FE3-084C-8B76-E54F-A702CD3F0666}"/>
              </a:ext>
            </a:extLst>
          </p:cNvPr>
          <p:cNvSpPr/>
          <p:nvPr/>
        </p:nvSpPr>
        <p:spPr>
          <a:xfrm>
            <a:off x="11085095" y="6432884"/>
            <a:ext cx="1106905" cy="425116"/>
          </a:xfrm>
          <a:prstGeom prst="rect">
            <a:avLst/>
          </a:prstGeom>
          <a:solidFill>
            <a:srgbClr val="081639"/>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609600"/>
            <a:ext cx="11582110" cy="190500"/>
          </a:xfrm>
          <a:prstGeom prst="rect">
            <a:avLst/>
          </a:prstGeom>
          <a:noFill/>
          <a:ln/>
        </p:spPr>
        <p:txBody>
          <a:bodyPr wrap="none" lIns="0" tIns="0" rIns="0" bIns="0" rtlCol="0" anchor="t"/>
          <a:lstStyle/>
          <a:p>
            <a:pPr marL="0" indent="0" algn="l">
              <a:lnSpc>
                <a:spcPct val="104000"/>
              </a:lnSpc>
              <a:buNone/>
            </a:pPr>
            <a:r>
              <a:rPr lang="en-US" sz="1200" kern="100" spc="72" dirty="0">
                <a:solidFill>
                  <a:srgbClr val="DCE1EE"/>
                </a:solidFill>
                <a:latin typeface="Overpass Mono Medium" pitchFamily="34" charset="0"/>
                <a:ea typeface="Overpass Mono Medium" pitchFamily="34" charset="-122"/>
                <a:cs typeface="Overpass Mono Medium" pitchFamily="34" charset="-120"/>
              </a:rPr>
              <a:t>STATUS AND ROADMAP</a:t>
            </a:r>
            <a:endParaRPr lang="en-US" sz="1200" dirty="0"/>
          </a:p>
        </p:txBody>
      </p:sp>
      <p:sp>
        <p:nvSpPr>
          <p:cNvPr id="3" name="Text 1"/>
          <p:cNvSpPr/>
          <p:nvPr/>
        </p:nvSpPr>
        <p:spPr>
          <a:xfrm>
            <a:off x="609585" y="918591"/>
            <a:ext cx="10972526" cy="403820"/>
          </a:xfrm>
          <a:prstGeom prst="rect">
            <a:avLst/>
          </a:prstGeom>
          <a:noFill/>
          <a:ln/>
        </p:spPr>
        <p:txBody>
          <a:bodyPr wrap="none" lIns="0" tIns="0" rIns="0" bIns="0" rtlCol="0" anchor="t"/>
          <a:lstStyle/>
          <a:p>
            <a:pPr marL="0" indent="0" algn="l">
              <a:lnSpc>
                <a:spcPct val="88000"/>
              </a:lnSpc>
              <a:buNone/>
            </a:pPr>
            <a:r>
              <a:rPr lang="en-US" sz="3000" kern="100" spc="-30" dirty="0">
                <a:solidFill>
                  <a:srgbClr val="FFFFFF"/>
                </a:solidFill>
                <a:latin typeface="Encode Sans Semi Condensed SemiBold" pitchFamily="34" charset="0"/>
                <a:ea typeface="Encode Sans Semi Condensed SemiBold" pitchFamily="34" charset="-122"/>
                <a:cs typeface="Encode Sans Semi Condensed SemiBold" pitchFamily="34" charset="-120"/>
              </a:rPr>
              <a:t>Where we are and where we go next</a:t>
            </a:r>
            <a:endParaRPr lang="en-US" sz="3000" dirty="0"/>
          </a:p>
        </p:txBody>
      </p:sp>
      <p:sp>
        <p:nvSpPr>
          <p:cNvPr id="4" name="Shape 2"/>
          <p:cNvSpPr/>
          <p:nvPr/>
        </p:nvSpPr>
        <p:spPr>
          <a:xfrm>
            <a:off x="609585" y="1496020"/>
            <a:ext cx="5257668" cy="3492401"/>
          </a:xfrm>
          <a:prstGeom prst="roundRect">
            <a:avLst>
              <a:gd name="adj" fmla="val 2520"/>
            </a:avLst>
          </a:prstGeom>
          <a:noFill/>
          <a:ln w="25399">
            <a:solidFill>
              <a:srgbClr val="199990"/>
            </a:solidFill>
            <a:prstDash val="solid"/>
          </a:ln>
        </p:spPr>
        <p:txBody>
          <a:bodyPr/>
          <a:lstStyle/>
          <a:p>
            <a:endParaRPr lang="en-US"/>
          </a:p>
        </p:txBody>
      </p:sp>
      <p:sp>
        <p:nvSpPr>
          <p:cNvPr id="5" name="Shape 3"/>
          <p:cNvSpPr/>
          <p:nvPr/>
        </p:nvSpPr>
        <p:spPr>
          <a:xfrm>
            <a:off x="863578" y="1750020"/>
            <a:ext cx="2743727" cy="326827"/>
          </a:xfrm>
          <a:prstGeom prst="roundRect">
            <a:avLst>
              <a:gd name="adj" fmla="val 21543"/>
            </a:avLst>
          </a:prstGeom>
          <a:solidFill>
            <a:srgbClr val="004D47"/>
          </a:solidFill>
          <a:ln/>
        </p:spPr>
        <p:txBody>
          <a:bodyPr/>
          <a:lstStyle/>
          <a:p>
            <a:endParaRPr lang="en-US"/>
          </a:p>
        </p:txBody>
      </p:sp>
      <p:sp>
        <p:nvSpPr>
          <p:cNvPr id="6" name="Text 4"/>
          <p:cNvSpPr/>
          <p:nvPr/>
        </p:nvSpPr>
        <p:spPr>
          <a:xfrm>
            <a:off x="989285" y="1812826"/>
            <a:ext cx="3101897"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C9CFE0"/>
                </a:solidFill>
                <a:latin typeface="Overpass Mono Medium" pitchFamily="34" charset="0"/>
                <a:ea typeface="Overpass Mono Medium" pitchFamily="34" charset="-122"/>
                <a:cs typeface="Overpass Mono Medium" pitchFamily="34" charset="-120"/>
              </a:rPr>
              <a:t>LIVE NOW · SOLID ROUTE</a:t>
            </a:r>
            <a:endParaRPr lang="en-US" sz="1300" dirty="0"/>
          </a:p>
        </p:txBody>
      </p:sp>
      <p:sp>
        <p:nvSpPr>
          <p:cNvPr id="7" name="Shape 5"/>
          <p:cNvSpPr/>
          <p:nvPr/>
        </p:nvSpPr>
        <p:spPr>
          <a:xfrm>
            <a:off x="863578" y="2248297"/>
            <a:ext cx="4749681" cy="69751"/>
          </a:xfrm>
          <a:prstGeom prst="roundRect">
            <a:avLst>
              <a:gd name="adj" fmla="val 49999"/>
            </a:avLst>
          </a:prstGeom>
          <a:solidFill>
            <a:srgbClr val="00978D"/>
          </a:solidFill>
          <a:ln/>
        </p:spPr>
        <p:txBody>
          <a:bodyPr/>
          <a:lstStyle/>
          <a:p>
            <a:endParaRPr lang="en-US"/>
          </a:p>
        </p:txBody>
      </p:sp>
      <p:sp>
        <p:nvSpPr>
          <p:cNvPr id="8" name="Text 6"/>
          <p:cNvSpPr/>
          <p:nvPr/>
        </p:nvSpPr>
        <p:spPr>
          <a:xfrm>
            <a:off x="863578" y="2489597"/>
            <a:ext cx="4749681" cy="2244824"/>
          </a:xfrm>
          <a:prstGeom prst="rect">
            <a:avLst/>
          </a:prstGeom>
          <a:noFill/>
          <a:ln/>
        </p:spPr>
        <p:txBody>
          <a:bodyPr wrap="square" lIns="0" tIns="0" rIns="0" bIns="0" rtlCol="0" anchor="t">
            <a:normAutofit/>
          </a:bodyPr>
          <a:lstStyle/>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Live website on Solana Devnet</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Phantom donations with SPL tokens and server-side verification</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Transparency dashboard with Explorer links, campaign creation with milestones</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Uses a configurable Devnet test token, not real USDC</a:t>
            </a:r>
            <a:endParaRPr lang="en-US" sz="1650" dirty="0"/>
          </a:p>
        </p:txBody>
      </p:sp>
      <p:sp>
        <p:nvSpPr>
          <p:cNvPr id="9" name="Shape 7"/>
          <p:cNvSpPr/>
          <p:nvPr/>
        </p:nvSpPr>
        <p:spPr>
          <a:xfrm>
            <a:off x="6324442" y="1496020"/>
            <a:ext cx="5257668" cy="3492401"/>
          </a:xfrm>
          <a:prstGeom prst="roundRect">
            <a:avLst>
              <a:gd name="adj" fmla="val 2520"/>
            </a:avLst>
          </a:prstGeom>
          <a:noFill/>
          <a:ln w="25399">
            <a:solidFill>
              <a:srgbClr val="199990"/>
            </a:solidFill>
            <a:prstDash val="solid"/>
          </a:ln>
        </p:spPr>
        <p:txBody>
          <a:bodyPr/>
          <a:lstStyle/>
          <a:p>
            <a:endParaRPr lang="en-US"/>
          </a:p>
        </p:txBody>
      </p:sp>
      <p:sp>
        <p:nvSpPr>
          <p:cNvPr id="10" name="Shape 8"/>
          <p:cNvSpPr/>
          <p:nvPr/>
        </p:nvSpPr>
        <p:spPr>
          <a:xfrm>
            <a:off x="6578435" y="1750020"/>
            <a:ext cx="2743727" cy="326827"/>
          </a:xfrm>
          <a:prstGeom prst="roundRect">
            <a:avLst>
              <a:gd name="adj" fmla="val 21543"/>
            </a:avLst>
          </a:prstGeom>
          <a:noFill/>
          <a:ln w="6350">
            <a:solidFill>
              <a:srgbClr val="00978D"/>
            </a:solidFill>
            <a:prstDash val="solid"/>
          </a:ln>
        </p:spPr>
        <p:txBody>
          <a:bodyPr/>
          <a:lstStyle/>
          <a:p>
            <a:endParaRPr lang="en-US"/>
          </a:p>
        </p:txBody>
      </p:sp>
      <p:sp>
        <p:nvSpPr>
          <p:cNvPr id="11" name="Text 9"/>
          <p:cNvSpPr/>
          <p:nvPr/>
        </p:nvSpPr>
        <p:spPr>
          <a:xfrm>
            <a:off x="6704142" y="1812826"/>
            <a:ext cx="3101897"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0978D"/>
                </a:solidFill>
                <a:latin typeface="Overpass Mono Medium" pitchFamily="34" charset="0"/>
                <a:ea typeface="Overpass Mono Medium" pitchFamily="34" charset="-122"/>
                <a:cs typeface="Overpass Mono Medium" pitchFamily="34" charset="-120"/>
              </a:rPr>
              <a:t>ROADMAP · DASHED ROUTE</a:t>
            </a:r>
            <a:endParaRPr lang="en-US" sz="1300" dirty="0"/>
          </a:p>
        </p:txBody>
      </p:sp>
      <p:sp>
        <p:nvSpPr>
          <p:cNvPr id="12" name="Shape 10"/>
          <p:cNvSpPr/>
          <p:nvPr/>
        </p:nvSpPr>
        <p:spPr>
          <a:xfrm>
            <a:off x="6578435" y="2248297"/>
            <a:ext cx="4749681" cy="69751"/>
          </a:xfrm>
          <a:prstGeom prst="roundRect">
            <a:avLst>
              <a:gd name="adj" fmla="val 49999"/>
            </a:avLst>
          </a:prstGeom>
          <a:solidFill>
            <a:srgbClr val="051230"/>
          </a:solidFill>
          <a:ln/>
        </p:spPr>
        <p:txBody>
          <a:bodyPr/>
          <a:lstStyle/>
          <a:p>
            <a:endParaRPr lang="en-US"/>
          </a:p>
        </p:txBody>
      </p:sp>
      <p:sp>
        <p:nvSpPr>
          <p:cNvPr id="13" name="Text 11"/>
          <p:cNvSpPr/>
          <p:nvPr/>
        </p:nvSpPr>
        <p:spPr>
          <a:xfrm>
            <a:off x="6578435" y="2489597"/>
            <a:ext cx="4749681" cy="2055217"/>
          </a:xfrm>
          <a:prstGeom prst="rect">
            <a:avLst/>
          </a:prstGeom>
          <a:noFill/>
          <a:ln/>
        </p:spPr>
        <p:txBody>
          <a:bodyPr wrap="square" lIns="0" tIns="0" rIns="0" bIns="0" rtlCol="0" anchor="t">
            <a:normAutofit/>
          </a:bodyPr>
          <a:lstStyle/>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Mainnet after testing and review</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Better organizer tools</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More detailed impact reporting</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Humanitarian partnerships</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More wallets and tokens</a:t>
            </a:r>
            <a:endParaRPr lang="en-US" sz="1650" dirty="0"/>
          </a:p>
          <a:p>
            <a:pPr marL="335280" indent="-335280" algn="l">
              <a:lnSpc>
                <a:spcPct val="118000"/>
              </a:lnSpc>
              <a:buSzPct val="100000"/>
              <a:buChar char="•"/>
            </a:pPr>
            <a:r>
              <a:rPr lang="en-US" sz="1650" dirty="0">
                <a:solidFill>
                  <a:srgbClr val="C9CFE0"/>
                </a:solidFill>
                <a:latin typeface="Fira Sans" pitchFamily="34" charset="0"/>
                <a:ea typeface="Fira Sans" pitchFamily="34" charset="-122"/>
                <a:cs typeface="Fira Sans" pitchFamily="34" charset="-120"/>
              </a:rPr>
              <a:t>Improved monitoring, testing and reliability</a:t>
            </a:r>
            <a:endParaRPr lang="en-US" sz="1650" dirty="0"/>
          </a:p>
        </p:txBody>
      </p:sp>
      <p:sp>
        <p:nvSpPr>
          <p:cNvPr id="15" name="Rectangle 14">
            <a:extLst>
              <a:ext uri="{FF2B5EF4-FFF2-40B4-BE49-F238E27FC236}">
                <a16:creationId xmlns:a16="http://schemas.microsoft.com/office/drawing/2014/main" id="{71314BDF-E933-6F2F-5B7F-B676C4C6690F}"/>
              </a:ext>
            </a:extLst>
          </p:cNvPr>
          <p:cNvSpPr/>
          <p:nvPr/>
        </p:nvSpPr>
        <p:spPr>
          <a:xfrm>
            <a:off x="11085095" y="6569242"/>
            <a:ext cx="1106905" cy="288758"/>
          </a:xfrm>
          <a:prstGeom prst="rect">
            <a:avLst/>
          </a:prstGeom>
          <a:solidFill>
            <a:srgbClr val="05123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12780" y="1397000"/>
            <a:ext cx="2857032" cy="326827"/>
          </a:xfrm>
          <a:prstGeom prst="roundRect">
            <a:avLst>
              <a:gd name="adj" fmla="val 49999"/>
            </a:avLst>
          </a:prstGeom>
          <a:solidFill>
            <a:srgbClr val="FFFFFF"/>
          </a:solidFill>
          <a:ln/>
        </p:spPr>
        <p:txBody>
          <a:bodyPr/>
          <a:lstStyle/>
          <a:p>
            <a:endParaRPr lang="en-US"/>
          </a:p>
        </p:txBody>
      </p:sp>
      <p:sp>
        <p:nvSpPr>
          <p:cNvPr id="3" name="Text 1"/>
          <p:cNvSpPr/>
          <p:nvPr/>
        </p:nvSpPr>
        <p:spPr>
          <a:xfrm>
            <a:off x="938487" y="1459805"/>
            <a:ext cx="3215202" cy="201216"/>
          </a:xfrm>
          <a:prstGeom prst="rect">
            <a:avLst/>
          </a:prstGeom>
          <a:noFill/>
          <a:ln/>
        </p:spPr>
        <p:txBody>
          <a:bodyPr wrap="none" lIns="0" tIns="0" rIns="0" bIns="0" rtlCol="0" anchor="t"/>
          <a:lstStyle/>
          <a:p>
            <a:pPr marL="0" indent="0" algn="l">
              <a:lnSpc>
                <a:spcPct val="100000"/>
              </a:lnSpc>
              <a:buNone/>
            </a:pPr>
            <a:r>
              <a:rPr lang="en-US" sz="1300" kern="100" spc="79" dirty="0">
                <a:solidFill>
                  <a:srgbClr val="051230"/>
                </a:solidFill>
                <a:latin typeface="Overpass Mono Medium" pitchFamily="34" charset="0"/>
                <a:ea typeface="Overpass Mono Medium" pitchFamily="34" charset="-122"/>
                <a:cs typeface="Overpass Mono Medium" pitchFamily="34" charset="-120"/>
              </a:rPr>
              <a:t>END OF LINE · THANK YOU</a:t>
            </a:r>
            <a:endParaRPr lang="en-US" sz="1300" dirty="0"/>
          </a:p>
        </p:txBody>
      </p:sp>
      <p:sp>
        <p:nvSpPr>
          <p:cNvPr id="4" name="Text 2"/>
          <p:cNvSpPr/>
          <p:nvPr/>
        </p:nvSpPr>
        <p:spPr>
          <a:xfrm>
            <a:off x="812780" y="1948998"/>
            <a:ext cx="5460863" cy="699492"/>
          </a:xfrm>
          <a:prstGeom prst="rect">
            <a:avLst/>
          </a:prstGeom>
          <a:noFill/>
          <a:ln/>
        </p:spPr>
        <p:txBody>
          <a:bodyPr wrap="none" lIns="0" tIns="0" rIns="0" bIns="0" rtlCol="0" anchor="t"/>
          <a:lstStyle/>
          <a:p>
            <a:pPr marL="0" indent="0" algn="l">
              <a:lnSpc>
                <a:spcPct val="85000"/>
              </a:lnSpc>
              <a:buNone/>
            </a:pPr>
            <a:r>
              <a:rPr lang="en-US" sz="5400" kern="100" spc="-54" dirty="0">
                <a:solidFill>
                  <a:srgbClr val="FFFFFF"/>
                </a:solidFill>
                <a:latin typeface="Encode Sans Semi Condensed SemiBold" pitchFamily="34" charset="0"/>
                <a:ea typeface="Encode Sans Semi Condensed SemiBold" pitchFamily="34" charset="-122"/>
                <a:cs typeface="Encode Sans Semi Condensed SemiBold" pitchFamily="34" charset="-120"/>
              </a:rPr>
              <a:t>Thank you</a:t>
            </a:r>
            <a:endParaRPr lang="en-US" sz="5400" dirty="0"/>
          </a:p>
        </p:txBody>
      </p:sp>
      <p:sp>
        <p:nvSpPr>
          <p:cNvPr id="5" name="Text 3"/>
          <p:cNvSpPr/>
          <p:nvPr/>
        </p:nvSpPr>
        <p:spPr>
          <a:xfrm>
            <a:off x="812780" y="2766219"/>
            <a:ext cx="5460863"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FFFFFF"/>
                </a:solidFill>
                <a:latin typeface="Fira Sans" pitchFamily="34" charset="0"/>
                <a:ea typeface="Fira Sans" pitchFamily="34" charset="-122"/>
                <a:cs typeface="Fira Sans" pitchFamily="34" charset="-120"/>
              </a:rPr>
              <a:t>ReliefChain: Transparent Giving. Verifiable Impact.</a:t>
            </a:r>
            <a:endParaRPr lang="en-US" sz="2000" dirty="0"/>
          </a:p>
        </p:txBody>
      </p:sp>
      <p:sp>
        <p:nvSpPr>
          <p:cNvPr id="6" name="Text 4"/>
          <p:cNvSpPr/>
          <p:nvPr/>
        </p:nvSpPr>
        <p:spPr>
          <a:xfrm>
            <a:off x="812780" y="3572669"/>
            <a:ext cx="5460863" cy="685205"/>
          </a:xfrm>
          <a:prstGeom prst="rect">
            <a:avLst/>
          </a:prstGeom>
          <a:noFill/>
          <a:ln/>
        </p:spPr>
        <p:txBody>
          <a:bodyPr wrap="square" lIns="0" tIns="0" rIns="0" bIns="0" rtlCol="0" anchor="t">
            <a:normAutofit/>
          </a:bodyPr>
          <a:lstStyle/>
          <a:p>
            <a:pPr marL="0" indent="0" algn="l">
              <a:lnSpc>
                <a:spcPct val="118000"/>
              </a:lnSpc>
              <a:buNone/>
            </a:pPr>
            <a:r>
              <a:rPr lang="en-US" sz="1900" dirty="0">
                <a:solidFill>
                  <a:srgbClr val="FFFFFF"/>
                </a:solidFill>
                <a:latin typeface="Fira Sans" pitchFamily="34" charset="0"/>
                <a:ea typeface="Fira Sans" pitchFamily="34" charset="-122"/>
                <a:cs typeface="Fira Sans" pitchFamily="34" charset="-120"/>
              </a:rPr>
              <a:t>Humanitarian giving should be easy to verify, so every donor can see the proof.</a:t>
            </a:r>
            <a:endParaRPr lang="en-US" sz="1900" dirty="0"/>
          </a:p>
        </p:txBody>
      </p:sp>
      <p:sp>
        <p:nvSpPr>
          <p:cNvPr id="7" name="Text 5"/>
          <p:cNvSpPr/>
          <p:nvPr/>
        </p:nvSpPr>
        <p:spPr>
          <a:xfrm>
            <a:off x="812780" y="4435673"/>
            <a:ext cx="5460863" cy="568325"/>
          </a:xfrm>
          <a:prstGeom prst="rect">
            <a:avLst/>
          </a:prstGeom>
          <a:noFill/>
          <a:ln/>
        </p:spPr>
        <p:txBody>
          <a:bodyPr wrap="square" lIns="0" tIns="0" rIns="0" bIns="0" rtlCol="0" anchor="t"/>
          <a:lstStyle/>
          <a:p>
            <a:pPr marL="0" indent="0" algn="l">
              <a:lnSpc>
                <a:spcPct val="104000"/>
              </a:lnSpc>
              <a:spcAft>
                <a:spcPts val="1450"/>
              </a:spcAft>
              <a:buNone/>
            </a:pPr>
            <a:r>
              <a:rPr lang="en-US" sz="1200" kern="100" spc="36" dirty="0">
                <a:solidFill>
                  <a:srgbClr val="AFB3BD"/>
                </a:solidFill>
                <a:latin typeface="Overpass Mono Medium" pitchFamily="34" charset="0"/>
                <a:ea typeface="Overpass Mono Medium" pitchFamily="34" charset="-122"/>
                <a:cs typeface="Overpass Mono Medium" pitchFamily="34" charset="-120"/>
              </a:rPr>
              <a:t>LIVE SITE: </a:t>
            </a:r>
            <a:r>
              <a:rPr lang="en-US" sz="1200" b="1" u="sng" kern="100" spc="36" dirty="0">
                <a:solidFill>
                  <a:srgbClr val="00978D"/>
                </a:solidFill>
                <a:latin typeface="Overpass Mono Bold" pitchFamily="34" charset="0"/>
                <a:ea typeface="Overpass Mono Bold" pitchFamily="34" charset="-122"/>
                <a:cs typeface="Overpass Mono Bold" pitchFamily="34" charset="-120"/>
                <a:hlinkClick r:id="rId3">
                  <a:extLst>
                    <a:ext uri="{A12FA001-AC4F-418D-AE19-62706E023703}">
                      <ahyp:hlinkClr xmlns:ahyp="http://schemas.microsoft.com/office/drawing/2018/hyperlinkcolor" val="tx"/>
                    </a:ext>
                  </a:extLst>
                </a:hlinkClick>
              </a:rPr>
              <a:t>RELIEF-CHAIN-TWO.VERCEL.APP</a:t>
            </a:r>
            <a:endParaRPr lang="en-US" sz="1200" dirty="0"/>
          </a:p>
          <a:p>
            <a:pPr marL="0" indent="0" algn="l">
              <a:lnSpc>
                <a:spcPct val="104000"/>
              </a:lnSpc>
              <a:buNone/>
            </a:pPr>
            <a:r>
              <a:rPr lang="en-US" sz="1200" kern="100" spc="36" dirty="0">
                <a:solidFill>
                  <a:srgbClr val="AFB3BD"/>
                </a:solidFill>
                <a:latin typeface="Overpass Mono Medium" pitchFamily="34" charset="0"/>
                <a:ea typeface="Overpass Mono Medium" pitchFamily="34" charset="-122"/>
                <a:cs typeface="Overpass Mono Medium" pitchFamily="34" charset="-120"/>
              </a:rPr>
              <a:t>GITHUB: GITHUB.COM/MUBASHIR-RASHID-AWAN/RELIEF-CHAIN</a:t>
            </a:r>
            <a:endParaRPr lang="en-US" sz="1200" dirty="0"/>
          </a:p>
        </p:txBody>
      </p:sp>
      <p:sp>
        <p:nvSpPr>
          <p:cNvPr id="9" name="Rectangle 8">
            <a:extLst>
              <a:ext uri="{FF2B5EF4-FFF2-40B4-BE49-F238E27FC236}">
                <a16:creationId xmlns:a16="http://schemas.microsoft.com/office/drawing/2014/main" id="{6EF7CF92-B33F-6F49-EF09-212D48084BC6}"/>
              </a:ext>
            </a:extLst>
          </p:cNvPr>
          <p:cNvSpPr/>
          <p:nvPr/>
        </p:nvSpPr>
        <p:spPr>
          <a:xfrm>
            <a:off x="11085095" y="6569242"/>
            <a:ext cx="1106905" cy="288758"/>
          </a:xfrm>
          <a:prstGeom prst="rect">
            <a:avLst/>
          </a:prstGeom>
          <a:solidFill>
            <a:srgbClr val="1C1D49"/>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659FB34-B67E-A52A-6E70-3435CCD8A261}"/>
              </a:ext>
            </a:extLst>
          </p:cNvPr>
          <p:cNvSpPr/>
          <p:nvPr/>
        </p:nvSpPr>
        <p:spPr>
          <a:xfrm>
            <a:off x="10988842" y="6432884"/>
            <a:ext cx="232611" cy="425116"/>
          </a:xfrm>
          <a:prstGeom prst="rect">
            <a:avLst/>
          </a:prstGeom>
          <a:solidFill>
            <a:srgbClr val="05B7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978D"/>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1136</Words>
  <Application>Microsoft Office PowerPoint</Application>
  <PresentationFormat>Widescreen</PresentationFormat>
  <Paragraphs>158</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Overpass Mono Bold</vt:lpstr>
      <vt:lpstr>Arial</vt:lpstr>
      <vt:lpstr>Fira Sans Bold</vt:lpstr>
      <vt:lpstr>Overpass Mono Medium</vt:lpstr>
      <vt:lpstr>Encode Sans Semi Condensed SemiBold</vt:lpstr>
      <vt:lpstr>Fira Sans</vt:lpstr>
      <vt:lpstr>Fira Sans SemiBold</vt:lpstr>
      <vt:lpstr>Overpass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MUBASHIR RASHID</cp:lastModifiedBy>
  <cp:revision>2</cp:revision>
  <dcterms:created xsi:type="dcterms:W3CDTF">2026-10-11T10:10:53Z</dcterms:created>
  <dcterms:modified xsi:type="dcterms:W3CDTF">2026-10-11T10:52:20Z</dcterms:modified>
</cp:coreProperties>
</file>